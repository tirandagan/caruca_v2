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for making the time. I want to walk you through where the project stands, share four things I found while reviewing the paper and the code, and then put four open questions to you. Planning is finished; nothing is built yet. That is deliberate, because I would rather get your input before writing code than after.</a:t>
            </a:r>
          </a:p>
          <a:p/>
          <a:p>
            <a:r>
              <a:t>One deck serves both advisors. Slides 3 and 4 are background on what Caruca is: skip them with Michael, who co-authored it, and walk through them with William, who has no involvement with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early: this is a planning checkpoint, not a demo. The key message is that nothing has been built because I wanted the approach reviewed first. If they only remember one thing from this deck, it should be the two-step structure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SKIP THIS SLIDE when presenting to Michael, who co-authored Caruca. It is here for William, who has no involvement with it, and for anyone reading the deck without me. If presenting to William, keep it to about ninety seconds. The important part is the third bullet: read the manual, build tests, run them, watch. That four-step shape recurs throughout the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SKIP THIS SLIDE when presenting to Michael. It is the 'why should I care' slide for William, whose background is formal methods rather than shell tooling. The third bullet is the methodological heart and is squarely in his wheelhouse, so pause there and invite him 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anchor slide of the whole deck. Say the banner line out loud rather than letting them read it. William's guidance was explicitly not to over-engineer the first version, and this slide is the direct answer to that. Everything ambitious later in the deck is parked in the right-hand column on purpose.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columns, left to right. The left is Caruca as it exists and it does not change. The middle is step one, which swaps only the first box for a single prompt and then reuses the same comparison yardstick. The right is step two, drawn dashed because it is later. Point out that we reuse Caruca's own sandbox, its annotator, and its verified answers rather than rebuilding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either of them pushes on 'why not make it better', the answer is the third bullet: a deliberately plain baseline is what makes the comparison interpretable. An optimised prompt would confound the result with prompt engineering effort.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these as gaps we can fill, not as oversights. Both are genuinely additive: neither changes any claim the paper makes, and both strengthen a resubmission. Michael may already know about the cost one; the repeatability one usually lands harder.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one is the item I most want Michael to weigh in on. It is my interpretation from measuring the checkout, not something the paper states, and it materially affects what we can claim later. Ask him directly. The second is routine maintenance, mentioned only because it sits on the critical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are drawn from nine issues the authors do not appear to discuss anywhere. I picked the ones with the clearest behavioural consequence. The full list, plus everything the authors already acknowledge themselves, is in the appendix. Stress that this is step-two material: it is surveyed so we know what is there, not queued up to start.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Its job is to show the extension path is concrete rather than hand-waved, while the muted styling and the step-two marker keep signalling that none of it is starting now.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answer the unspoken question of whether I am trying to do too much. Saying the boundary out loud is more convincing than hoping they infer it. If they push on any of the three, the answer is the same: it is deferred, not dismissed.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all three run on my machine today. Nothing here waits on the sandbox technology decision, which is the biggest open unknown. That sequencing is deliberate: the highest-uncertainty piece blocks the least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dwell on all six. The last one carries a real caveat: in step one the model replaces only the description step, so any claim about replacing hand-written code would be narrow. I would rather say that now than have it challenged in review later. Question three at the end asks them directly what to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Michael only. Its purpose is to make clear that nothing of his is being torn out. If he has concerns about the annotator changes in step two, this is the natural place for that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Raise this carefully and factually. It does not affect the paper's headline claim, which is the per-command figure. Ask whether he wants the fix upstreamed or kept local to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aimed at William's methodological instincts. The last bullet is the one he is most likely to probe: be ready to talk about what is held constant and what is allowed to vary.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of the meeting I actually need. Give them room. Question one is the biggest unknown and blocks step two. Question four is specifically for Michael and takes him ten seconds to answer. Each one has my current lean attached so the conversation starts from a position rather than a blank page.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proposing an actual next meeting rather than leaving it vague. The promise to return with numbers instead of more planning is the point: this should be the last planning conversation.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4028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777240"/>
            <a:ext cx="10911535" cy="457200"/>
          </a:xfrm>
          <a:prstGeom prst="rect">
            <a:avLst/>
          </a:prstGeom>
          <a:noFill/>
        </p:spPr>
        <p:txBody>
          <a:bodyPr wrap="square" anchor="t" lIns="0" rIns="0" tIns="0" bIns="0">
            <a:spAutoFit/>
          </a:bodyPr>
          <a:lstStyle/>
          <a:p>
            <a:pPr algn="l"/>
            <a:r>
              <a:rPr sz="1300" b="1" i="0">
                <a:solidFill>
                  <a:srgbClr val="4A6FA5"/>
                </a:solidFill>
                <a:latin typeface="Segoe UI"/>
              </a:rPr>
              <a:t>CARUCA v2  ·  STATUS AND OPEN QUESTIONS</a:t>
            </a:r>
          </a:p>
        </p:txBody>
      </p:sp>
      <p:sp>
        <p:nvSpPr>
          <p:cNvPr id="4" name="TextBox 3"/>
          <p:cNvSpPr txBox="1"/>
          <p:nvPr/>
        </p:nvSpPr>
        <p:spPr>
          <a:xfrm>
            <a:off x="640080" y="1170432"/>
            <a:ext cx="10911535" cy="822960"/>
          </a:xfrm>
          <a:prstGeom prst="rect">
            <a:avLst/>
          </a:prstGeom>
          <a:noFill/>
        </p:spPr>
        <p:txBody>
          <a:bodyPr wrap="square" anchor="t" lIns="0" rIns="0" tIns="0" bIns="0">
            <a:spAutoFit/>
          </a:bodyPr>
          <a:lstStyle/>
          <a:p>
            <a:pPr algn="l"/>
            <a:r>
              <a:rPr sz="4000" b="1" i="0">
                <a:solidFill>
                  <a:srgbClr val="333333"/>
                </a:solidFill>
                <a:latin typeface="Segoe UI"/>
              </a:rPr>
              <a:t>Can an LLM do what Caruca does?</a:t>
            </a:r>
          </a:p>
        </p:txBody>
      </p:sp>
      <p:sp>
        <p:nvSpPr>
          <p:cNvPr id="5" name="TextBox 4"/>
          <p:cNvSpPr txBox="1"/>
          <p:nvPr/>
        </p:nvSpPr>
        <p:spPr>
          <a:xfrm>
            <a:off x="640080" y="2606040"/>
            <a:ext cx="10911535" cy="1371600"/>
          </a:xfrm>
          <a:prstGeom prst="rect">
            <a:avLst/>
          </a:prstGeom>
          <a:noFill/>
        </p:spPr>
        <p:txBody>
          <a:bodyPr wrap="square" anchor="t" lIns="0" rIns="0" tIns="0" bIns="0">
            <a:spAutoFit/>
          </a:bodyPr>
          <a:lstStyle/>
          <a:p>
            <a:pPr algn="l">
              <a:spcAft>
                <a:spcPts val="400"/>
              </a:spcAft>
            </a:pPr>
            <a:r>
              <a:rPr sz="1900" b="0" i="0">
                <a:solidFill>
                  <a:srgbClr val="666666"/>
                </a:solidFill>
                <a:latin typeface="Segoe UI"/>
              </a:rPr>
              <a:t>A plan to replicate Caruca's results using a language model,</a:t>
            </a:r>
          </a:p>
          <a:p>
            <a:pPr algn="l"/>
            <a:r>
              <a:rPr sz="1900" b="0" i="0">
                <a:solidFill>
                  <a:srgbClr val="666666"/>
                </a:solidFill>
                <a:latin typeface="Segoe UI"/>
              </a:rPr>
              <a:t>measure the two head to head, and only then extend further.</a:t>
            </a:r>
          </a:p>
        </p:txBody>
      </p:sp>
      <p:sp>
        <p:nvSpPr>
          <p:cNvPr id="6" name="TextBox 5"/>
          <p:cNvSpPr txBox="1"/>
          <p:nvPr/>
        </p:nvSpPr>
        <p:spPr>
          <a:xfrm>
            <a:off x="640080" y="4160520"/>
            <a:ext cx="10911535" cy="320040"/>
          </a:xfrm>
          <a:prstGeom prst="rect">
            <a:avLst/>
          </a:prstGeom>
          <a:noFill/>
        </p:spPr>
        <p:txBody>
          <a:bodyPr wrap="square" anchor="t" lIns="0" rIns="0" tIns="0" bIns="0">
            <a:spAutoFit/>
          </a:bodyPr>
          <a:lstStyle/>
          <a:p>
            <a:pPr algn="l"/>
            <a:r>
              <a:rPr sz="1100" b="1" i="0">
                <a:solidFill>
                  <a:srgbClr val="4A6FA5"/>
                </a:solidFill>
                <a:latin typeface="Segoe UI"/>
              </a:rPr>
              <a:t>PREPARED FOR</a:t>
            </a:r>
          </a:p>
        </p:txBody>
      </p:sp>
      <p:sp>
        <p:nvSpPr>
          <p:cNvPr id="7" name="TextBox 6"/>
          <p:cNvSpPr txBox="1"/>
          <p:nvPr/>
        </p:nvSpPr>
        <p:spPr>
          <a:xfrm>
            <a:off x="640080" y="4498848"/>
            <a:ext cx="10911535" cy="822960"/>
          </a:xfrm>
          <a:prstGeom prst="rect">
            <a:avLst/>
          </a:prstGeom>
          <a:noFill/>
        </p:spPr>
        <p:txBody>
          <a:bodyPr wrap="square" anchor="t" lIns="0" rIns="0" tIns="0" bIns="0">
            <a:spAutoFit/>
          </a:bodyPr>
          <a:lstStyle/>
          <a:p>
            <a:pPr algn="l"/>
            <a:r>
              <a:rPr sz="1700" b="1" i="0">
                <a:solidFill>
                  <a:srgbClr val="333333"/>
                </a:solidFill>
                <a:latin typeface="Segoe UI"/>
              </a:rPr>
              <a:t>Prof. Michael Greenberg</a:t>
            </a:r>
          </a:p>
          <a:p>
            <a:pPr algn="l">
              <a:spcAft>
                <a:spcPts val="900"/>
              </a:spcAft>
            </a:pPr>
            <a:r>
              <a:rPr sz="1400" b="0" i="0">
                <a:solidFill>
                  <a:srgbClr val="666666"/>
                </a:solidFill>
                <a:latin typeface="Segoe UI"/>
              </a:rPr>
              <a:t>Principal Investigator, Caruca</a:t>
            </a:r>
          </a:p>
          <a:p>
            <a:pPr algn="l"/>
            <a:r>
              <a:rPr sz="1700" b="1" i="0">
                <a:solidFill>
                  <a:srgbClr val="333333"/>
                </a:solidFill>
                <a:latin typeface="Segoe UI"/>
              </a:rPr>
              <a:t>Prof. William Eiers</a:t>
            </a:r>
          </a:p>
          <a:p>
            <a:pPr algn="l"/>
            <a:r>
              <a:rPr sz="1400" b="0" i="0">
                <a:solidFill>
                  <a:srgbClr val="666666"/>
                </a:solidFill>
                <a:latin typeface="Segoe UI"/>
              </a:rPr>
              <a:t>PhD Advisor</a:t>
            </a:r>
          </a:p>
        </p:txBody>
      </p:sp>
      <p:sp>
        <p:nvSpPr>
          <p:cNvPr id="8" name="TextBox 7"/>
          <p:cNvSpPr txBox="1"/>
          <p:nvPr/>
        </p:nvSpPr>
        <p:spPr>
          <a:xfrm>
            <a:off x="8625535" y="4498848"/>
            <a:ext cx="2926080" cy="822960"/>
          </a:xfrm>
          <a:prstGeom prst="rect">
            <a:avLst/>
          </a:prstGeom>
          <a:noFill/>
        </p:spPr>
        <p:txBody>
          <a:bodyPr wrap="square" anchor="t" lIns="0" rIns="0" tIns="0" bIns="0">
            <a:spAutoFit/>
          </a:bodyPr>
          <a:lstStyle/>
          <a:p>
            <a:pPr algn="r">
              <a:spcAft>
                <a:spcPts val="200"/>
              </a:spcAft>
            </a:pPr>
            <a:r>
              <a:rPr sz="1600" b="0" i="0">
                <a:solidFill>
                  <a:srgbClr val="666666"/>
                </a:solidFill>
                <a:latin typeface="Segoe UI"/>
              </a:rPr>
              <a:t>Tiran Dagan</a:t>
            </a:r>
          </a:p>
          <a:p>
            <a:pPr algn="r"/>
            <a:r>
              <a:rPr sz="1400" b="0" i="0">
                <a:solidFill>
                  <a:srgbClr val="999999"/>
                </a:solidFill>
                <a:latin typeface="Segoe UI"/>
              </a:rPr>
              <a:t>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Where things stand</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545775" cy="390651"/>
          </a:xfrm>
          <a:prstGeom prst="rect">
            <a:avLst/>
          </a:prstGeom>
          <a:noFill/>
        </p:spPr>
        <p:txBody>
          <a:bodyPr wrap="square" anchor="t" lIns="0" rIns="0" tIns="0" bIns="0">
            <a:spAutoFit/>
          </a:bodyPr>
          <a:lstStyle/>
          <a:p>
            <a:pPr algn="l"/>
            <a:r>
              <a:rPr sz="1900" b="0" i="0">
                <a:solidFill>
                  <a:srgbClr val="666666"/>
                </a:solidFill>
                <a:latin typeface="Segoe UI"/>
              </a:rPr>
              <a:t>Planning is complete. Nothing is built yet. That is deliberate.</a:t>
            </a:r>
          </a:p>
        </p:txBody>
      </p:sp>
      <p:sp>
        <p:nvSpPr>
          <p:cNvPr id="5" name="Oval 4"/>
          <p:cNvSpPr/>
          <p:nvPr/>
        </p:nvSpPr>
        <p:spPr>
          <a:xfrm>
            <a:off x="667512" y="2146299"/>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50976" y="2054860"/>
            <a:ext cx="10600639" cy="374904"/>
          </a:xfrm>
          <a:prstGeom prst="rect">
            <a:avLst/>
          </a:prstGeom>
          <a:noFill/>
        </p:spPr>
        <p:txBody>
          <a:bodyPr wrap="square" anchor="t" lIns="0" rIns="0" tIns="0" bIns="0">
            <a:spAutoFit/>
          </a:bodyPr>
          <a:lstStyle/>
          <a:p>
            <a:pPr algn="l"/>
            <a:r>
              <a:rPr sz="1800" b="1" i="0">
                <a:solidFill>
                  <a:srgbClr val="333333"/>
                </a:solidFill>
                <a:latin typeface="Segoe UI"/>
              </a:rPr>
              <a:t>Five planning documents are finished</a:t>
            </a:r>
          </a:p>
        </p:txBody>
      </p:sp>
      <p:sp>
        <p:nvSpPr>
          <p:cNvPr id="7" name="TextBox 6"/>
          <p:cNvSpPr txBox="1"/>
          <p:nvPr/>
        </p:nvSpPr>
        <p:spPr>
          <a:xfrm>
            <a:off x="950976" y="2429764"/>
            <a:ext cx="10088575" cy="327660"/>
          </a:xfrm>
          <a:prstGeom prst="rect">
            <a:avLst/>
          </a:prstGeom>
          <a:noFill/>
        </p:spPr>
        <p:txBody>
          <a:bodyPr wrap="square" anchor="t" lIns="0" rIns="0" tIns="0" bIns="0">
            <a:spAutoFit/>
          </a:bodyPr>
          <a:lstStyle/>
          <a:p>
            <a:pPr algn="l"/>
            <a:r>
              <a:rPr sz="1500" b="0" i="0">
                <a:solidFill>
                  <a:srgbClr val="666666"/>
                </a:solidFill>
                <a:latin typeface="Segoe UI"/>
              </a:rPr>
              <a:t>What to build, how the pieces fit, what gets measured, and in what order.</a:t>
            </a:r>
          </a:p>
        </p:txBody>
      </p:sp>
      <p:sp>
        <p:nvSpPr>
          <p:cNvPr id="8" name="Oval 7"/>
          <p:cNvSpPr/>
          <p:nvPr/>
        </p:nvSpPr>
        <p:spPr>
          <a:xfrm>
            <a:off x="667512" y="294944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50976" y="2858008"/>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 plan is two steps, not one</a:t>
            </a:r>
          </a:p>
        </p:txBody>
      </p:sp>
      <p:sp>
        <p:nvSpPr>
          <p:cNvPr id="10" name="TextBox 9"/>
          <p:cNvSpPr txBox="1"/>
          <p:nvPr/>
        </p:nvSpPr>
        <p:spPr>
          <a:xfrm>
            <a:off x="950976" y="3232912"/>
            <a:ext cx="10088575" cy="327660"/>
          </a:xfrm>
          <a:prstGeom prst="rect">
            <a:avLst/>
          </a:prstGeom>
          <a:noFill/>
        </p:spPr>
        <p:txBody>
          <a:bodyPr wrap="square" anchor="t" lIns="0" rIns="0" tIns="0" bIns="0">
            <a:spAutoFit/>
          </a:bodyPr>
          <a:lstStyle/>
          <a:p>
            <a:pPr algn="l"/>
            <a:r>
              <a:rPr sz="1500" b="0" i="0">
                <a:solidFill>
                  <a:srgbClr val="666666"/>
                </a:solidFill>
                <a:latin typeface="Segoe UI"/>
              </a:rPr>
              <a:t>First replicate what Caruca already does, using a language model. Only then extend.</a:t>
            </a:r>
          </a:p>
        </p:txBody>
      </p:sp>
      <p:sp>
        <p:nvSpPr>
          <p:cNvPr id="11" name="Oval 10"/>
          <p:cNvSpPr/>
          <p:nvPr/>
        </p:nvSpPr>
        <p:spPr>
          <a:xfrm>
            <a:off x="667512" y="375259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950976" y="3661156"/>
            <a:ext cx="10600639" cy="374904"/>
          </a:xfrm>
          <a:prstGeom prst="rect">
            <a:avLst/>
          </a:prstGeom>
          <a:noFill/>
        </p:spPr>
        <p:txBody>
          <a:bodyPr wrap="square" anchor="t" lIns="0" rIns="0" tIns="0" bIns="0">
            <a:spAutoFit/>
          </a:bodyPr>
          <a:lstStyle/>
          <a:p>
            <a:pPr algn="l"/>
            <a:r>
              <a:rPr sz="1800" b="1" i="0">
                <a:solidFill>
                  <a:srgbClr val="333333"/>
                </a:solidFill>
                <a:latin typeface="Segoe UI"/>
              </a:rPr>
              <a:t>I reviewed the original paper and the code in detail</a:t>
            </a:r>
          </a:p>
        </p:txBody>
      </p:sp>
      <p:sp>
        <p:nvSpPr>
          <p:cNvPr id="13" name="TextBox 12"/>
          <p:cNvSpPr txBox="1"/>
          <p:nvPr/>
        </p:nvSpPr>
        <p:spPr>
          <a:xfrm>
            <a:off x="950976" y="4036060"/>
            <a:ext cx="10088575" cy="327660"/>
          </a:xfrm>
          <a:prstGeom prst="rect">
            <a:avLst/>
          </a:prstGeom>
          <a:noFill/>
        </p:spPr>
        <p:txBody>
          <a:bodyPr wrap="square" anchor="t" lIns="0" rIns="0" tIns="0" bIns="0">
            <a:spAutoFit/>
          </a:bodyPr>
          <a:lstStyle/>
          <a:p>
            <a:pPr algn="l"/>
            <a:r>
              <a:rPr sz="1500" b="0" i="0">
                <a:solidFill>
                  <a:srgbClr val="666666"/>
                </a:solidFill>
                <a:latin typeface="Segoe UI"/>
              </a:rPr>
              <a:t>Four findings worth your attention, including one I need Michael to confirm.</a:t>
            </a:r>
          </a:p>
        </p:txBody>
      </p:sp>
      <p:sp>
        <p:nvSpPr>
          <p:cNvPr id="14" name="Oval 13"/>
          <p:cNvSpPr/>
          <p:nvPr/>
        </p:nvSpPr>
        <p:spPr>
          <a:xfrm>
            <a:off x="667512" y="455574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950976" y="4464304"/>
            <a:ext cx="10600639" cy="374904"/>
          </a:xfrm>
          <a:prstGeom prst="rect">
            <a:avLst/>
          </a:prstGeom>
          <a:noFill/>
        </p:spPr>
        <p:txBody>
          <a:bodyPr wrap="square" anchor="t" lIns="0" rIns="0" tIns="0" bIns="0">
            <a:spAutoFit/>
          </a:bodyPr>
          <a:lstStyle/>
          <a:p>
            <a:pPr algn="l"/>
            <a:r>
              <a:rPr sz="1800" b="1" i="0">
                <a:solidFill>
                  <a:srgbClr val="333333"/>
                </a:solidFill>
                <a:latin typeface="Segoe UI"/>
              </a:rPr>
              <a:t>I am here for your input, not a green light</a:t>
            </a:r>
          </a:p>
        </p:txBody>
      </p:sp>
      <p:sp>
        <p:nvSpPr>
          <p:cNvPr id="16" name="TextBox 15"/>
          <p:cNvSpPr txBox="1"/>
          <p:nvPr/>
        </p:nvSpPr>
        <p:spPr>
          <a:xfrm>
            <a:off x="950976" y="4839208"/>
            <a:ext cx="10088575" cy="327660"/>
          </a:xfrm>
          <a:prstGeom prst="rect">
            <a:avLst/>
          </a:prstGeom>
          <a:noFill/>
        </p:spPr>
        <p:txBody>
          <a:bodyPr wrap="square" anchor="t" lIns="0" rIns="0" tIns="0" bIns="0">
            <a:spAutoFit/>
          </a:bodyPr>
          <a:lstStyle/>
          <a:p>
            <a:pPr algn="l"/>
            <a:r>
              <a:rPr sz="1500" b="0" i="0">
                <a:solidFill>
                  <a:srgbClr val="666666"/>
                </a:solidFill>
                <a:latin typeface="Segoe UI"/>
              </a:rPr>
              <a:t>Four open questions at the end. I would rather resolve them now than rework later.</a:t>
            </a:r>
          </a:p>
        </p:txBody>
      </p:sp>
      <p:sp>
        <p:nvSpPr>
          <p:cNvPr id="17" name="TextBox 16"/>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master_idea, roadmap</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BACKGROUND</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Caruca does</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658368"/>
          </a:xfrm>
          <a:prstGeom prst="rect">
            <a:avLst/>
          </a:prstGeom>
          <a:noFill/>
        </p:spPr>
        <p:txBody>
          <a:bodyPr wrap="square" anchor="t" lIns="0" rIns="0" tIns="0" bIns="0">
            <a:spAutoFit/>
          </a:bodyPr>
          <a:lstStyle/>
          <a:p>
            <a:pPr algn="l"/>
            <a:r>
              <a:rPr sz="1800" b="0" i="0">
                <a:solidFill>
                  <a:srgbClr val="666666"/>
                </a:solidFill>
                <a:latin typeface="Segoe UI"/>
              </a:rPr>
              <a:t>Some shell tools need to know how a command behaves before they can safely optimise it.</a:t>
            </a:r>
          </a:p>
        </p:txBody>
      </p:sp>
      <p:sp>
        <p:nvSpPr>
          <p:cNvPr id="6" name="Oval 5"/>
          <p:cNvSpPr/>
          <p:nvPr/>
        </p:nvSpPr>
        <p:spPr>
          <a:xfrm>
            <a:off x="667512" y="273532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651760"/>
            <a:ext cx="10600639" cy="359156"/>
          </a:xfrm>
          <a:prstGeom prst="rect">
            <a:avLst/>
          </a:prstGeom>
          <a:noFill/>
        </p:spPr>
        <p:txBody>
          <a:bodyPr wrap="square" anchor="t" lIns="0" rIns="0" tIns="0" bIns="0">
            <a:spAutoFit/>
          </a:bodyPr>
          <a:lstStyle/>
          <a:p>
            <a:pPr algn="l"/>
            <a:r>
              <a:rPr sz="1700" b="1" i="0">
                <a:solidFill>
                  <a:srgbClr val="333333"/>
                </a:solidFill>
                <a:latin typeface="Segoe UI"/>
              </a:rPr>
              <a:t>The problem: tools need behavioural descriptions of commands</a:t>
            </a:r>
          </a:p>
        </p:txBody>
      </p:sp>
      <p:sp>
        <p:nvSpPr>
          <p:cNvPr id="8" name="TextBox 7"/>
          <p:cNvSpPr txBox="1"/>
          <p:nvPr/>
        </p:nvSpPr>
        <p:spPr>
          <a:xfrm>
            <a:off x="950976" y="3010916"/>
            <a:ext cx="10088575" cy="319786"/>
          </a:xfrm>
          <a:prstGeom prst="rect">
            <a:avLst/>
          </a:prstGeom>
          <a:noFill/>
        </p:spPr>
        <p:txBody>
          <a:bodyPr wrap="square" anchor="t" lIns="0" rIns="0" tIns="0" bIns="0">
            <a:spAutoFit/>
          </a:bodyPr>
          <a:lstStyle/>
          <a:p>
            <a:pPr algn="l"/>
            <a:r>
              <a:rPr sz="1450" b="0" i="0">
                <a:solidFill>
                  <a:srgbClr val="666666"/>
                </a:solidFill>
                <a:latin typeface="Segoe UI"/>
              </a:rPr>
              <a:t>Does this command read a file or write one? Can it be split across processors safely?</a:t>
            </a:r>
          </a:p>
        </p:txBody>
      </p:sp>
      <p:sp>
        <p:nvSpPr>
          <p:cNvPr id="9" name="Oval 8"/>
          <p:cNvSpPr/>
          <p:nvPr/>
        </p:nvSpPr>
        <p:spPr>
          <a:xfrm>
            <a:off x="667512" y="349656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412998"/>
            <a:ext cx="10600639" cy="359156"/>
          </a:xfrm>
          <a:prstGeom prst="rect">
            <a:avLst/>
          </a:prstGeom>
          <a:noFill/>
        </p:spPr>
        <p:txBody>
          <a:bodyPr wrap="square" anchor="t" lIns="0" rIns="0" tIns="0" bIns="0">
            <a:spAutoFit/>
          </a:bodyPr>
          <a:lstStyle/>
          <a:p>
            <a:pPr algn="l"/>
            <a:r>
              <a:rPr sz="1700" b="1" i="0">
                <a:solidFill>
                  <a:srgbClr val="333333"/>
                </a:solidFill>
                <a:latin typeface="Segoe UI"/>
              </a:rPr>
              <a:t>Writing those descriptions by hand does not scale</a:t>
            </a:r>
          </a:p>
        </p:txBody>
      </p:sp>
      <p:sp>
        <p:nvSpPr>
          <p:cNvPr id="11" name="TextBox 10"/>
          <p:cNvSpPr txBox="1"/>
          <p:nvPr/>
        </p:nvSpPr>
        <p:spPr>
          <a:xfrm>
            <a:off x="950976" y="3772154"/>
            <a:ext cx="10088575" cy="319786"/>
          </a:xfrm>
          <a:prstGeom prst="rect">
            <a:avLst/>
          </a:prstGeom>
          <a:noFill/>
        </p:spPr>
        <p:txBody>
          <a:bodyPr wrap="square" anchor="t" lIns="0" rIns="0" tIns="0" bIns="0">
            <a:spAutoFit/>
          </a:bodyPr>
          <a:lstStyle/>
          <a:p>
            <a:pPr algn="l"/>
            <a:r>
              <a:rPr sz="1450" b="0" i="0">
                <a:solidFill>
                  <a:srgbClr val="666666"/>
                </a:solidFill>
                <a:latin typeface="Segoe UI"/>
              </a:rPr>
              <a:t>There are thousands of commands, each with dozens of options, and they differ between systems.</a:t>
            </a:r>
          </a:p>
        </p:txBody>
      </p:sp>
      <p:sp>
        <p:nvSpPr>
          <p:cNvPr id="12" name="Oval 11"/>
          <p:cNvSpPr/>
          <p:nvPr/>
        </p:nvSpPr>
        <p:spPr>
          <a:xfrm>
            <a:off x="667512" y="425780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174236"/>
            <a:ext cx="10600639" cy="359156"/>
          </a:xfrm>
          <a:prstGeom prst="rect">
            <a:avLst/>
          </a:prstGeom>
          <a:noFill/>
        </p:spPr>
        <p:txBody>
          <a:bodyPr wrap="square" anchor="t" lIns="0" rIns="0" tIns="0" bIns="0">
            <a:spAutoFit/>
          </a:bodyPr>
          <a:lstStyle/>
          <a:p>
            <a:pPr algn="l"/>
            <a:r>
              <a:rPr sz="1700" b="1" i="0">
                <a:solidFill>
                  <a:srgbClr val="333333"/>
                </a:solidFill>
                <a:latin typeface="Segoe UI"/>
              </a:rPr>
              <a:t>Caruca generates them automatically</a:t>
            </a:r>
          </a:p>
        </p:txBody>
      </p:sp>
      <p:sp>
        <p:nvSpPr>
          <p:cNvPr id="14" name="TextBox 13"/>
          <p:cNvSpPr txBox="1"/>
          <p:nvPr/>
        </p:nvSpPr>
        <p:spPr>
          <a:xfrm>
            <a:off x="950976" y="4533392"/>
            <a:ext cx="10088575" cy="548132"/>
          </a:xfrm>
          <a:prstGeom prst="rect">
            <a:avLst/>
          </a:prstGeom>
          <a:noFill/>
        </p:spPr>
        <p:txBody>
          <a:bodyPr wrap="square" anchor="t" lIns="0" rIns="0" tIns="0" bIns="0">
            <a:spAutoFit/>
          </a:bodyPr>
          <a:lstStyle/>
          <a:p>
            <a:pPr algn="l"/>
            <a:r>
              <a:rPr sz="1450" b="0" i="0">
                <a:solidFill>
                  <a:srgbClr val="666666"/>
                </a:solidFill>
                <a:latin typeface="Segoe UI"/>
              </a:rPr>
              <a:t>It reads the manual page, builds test invocations, runs them in a sandbox, and watches what each one actually touches.</a:t>
            </a:r>
          </a:p>
        </p:txBody>
      </p:sp>
      <p:sp>
        <p:nvSpPr>
          <p:cNvPr id="15" name="Oval 14"/>
          <p:cNvSpPr/>
          <p:nvPr/>
        </p:nvSpPr>
        <p:spPr>
          <a:xfrm>
            <a:off x="667512" y="524738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163820"/>
            <a:ext cx="10600639" cy="359156"/>
          </a:xfrm>
          <a:prstGeom prst="rect">
            <a:avLst/>
          </a:prstGeom>
          <a:noFill/>
        </p:spPr>
        <p:txBody>
          <a:bodyPr wrap="square" anchor="t" lIns="0" rIns="0" tIns="0" bIns="0">
            <a:spAutoFit/>
          </a:bodyPr>
          <a:lstStyle/>
          <a:p>
            <a:pPr algn="l"/>
            <a:r>
              <a:rPr sz="1700" b="1" i="0">
                <a:solidFill>
                  <a:srgbClr val="333333"/>
                </a:solidFill>
                <a:latin typeface="Segoe UI"/>
              </a:rPr>
              <a:t>It works: correct descriptions for 59 of 60 commands tested</a:t>
            </a:r>
          </a:p>
        </p:txBody>
      </p:sp>
      <p:sp>
        <p:nvSpPr>
          <p:cNvPr id="17" name="TextBox 16"/>
          <p:cNvSpPr txBox="1"/>
          <p:nvPr/>
        </p:nvSpPr>
        <p:spPr>
          <a:xfrm>
            <a:off x="950976" y="5522976"/>
            <a:ext cx="10088575" cy="319786"/>
          </a:xfrm>
          <a:prstGeom prst="rect">
            <a:avLst/>
          </a:prstGeom>
          <a:noFill/>
        </p:spPr>
        <p:txBody>
          <a:bodyPr wrap="square" anchor="t" lIns="0" rIns="0" tIns="0" bIns="0">
            <a:spAutoFit/>
          </a:bodyPr>
          <a:lstStyle/>
          <a:p>
            <a:pPr algn="l"/>
            <a:r>
              <a:rPr sz="1450" b="0" i="0">
                <a:solidFill>
                  <a:srgbClr val="666666"/>
                </a:solidFill>
                <a:latin typeface="Segoe UI"/>
              </a:rPr>
              <a:t>Published October 2025. Michael is a co-author.</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caruca_white_paper</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BACKGROUND</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Why it is worth testing a language model here</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390651"/>
          </a:xfrm>
          <a:prstGeom prst="rect">
            <a:avLst/>
          </a:prstGeom>
          <a:noFill/>
        </p:spPr>
        <p:txBody>
          <a:bodyPr wrap="square" anchor="t" lIns="0" rIns="0" tIns="0" bIns="0">
            <a:spAutoFit/>
          </a:bodyPr>
          <a:lstStyle/>
          <a:p>
            <a:pPr algn="l"/>
            <a:r>
              <a:rPr sz="1900" b="0" i="0">
                <a:solidFill>
                  <a:srgbClr val="666666"/>
                </a:solidFill>
                <a:latin typeface="Segoe UI"/>
              </a:rPr>
              <a:t>Caruca uses AI for one small step. Everything else is hand-written code.</a:t>
            </a:r>
          </a:p>
        </p:txBody>
      </p:sp>
      <p:sp>
        <p:nvSpPr>
          <p:cNvPr id="6" name="Oval 5"/>
          <p:cNvSpPr/>
          <p:nvPr/>
        </p:nvSpPr>
        <p:spPr>
          <a:xfrm>
            <a:off x="667512" y="2475483"/>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384044"/>
            <a:ext cx="10600639" cy="374904"/>
          </a:xfrm>
          <a:prstGeom prst="rect">
            <a:avLst/>
          </a:prstGeom>
          <a:noFill/>
        </p:spPr>
        <p:txBody>
          <a:bodyPr wrap="square" anchor="t" lIns="0" rIns="0" tIns="0" bIns="0">
            <a:spAutoFit/>
          </a:bodyPr>
          <a:lstStyle/>
          <a:p>
            <a:pPr algn="l"/>
            <a:r>
              <a:rPr sz="1800" b="1" i="0">
                <a:solidFill>
                  <a:srgbClr val="333333"/>
                </a:solidFill>
                <a:latin typeface="Segoe UI"/>
              </a:rPr>
              <a:t>Today the model does one job: read the manual page, describe the options</a:t>
            </a:r>
          </a:p>
        </p:txBody>
      </p:sp>
      <p:sp>
        <p:nvSpPr>
          <p:cNvPr id="8" name="TextBox 7"/>
          <p:cNvSpPr txBox="1"/>
          <p:nvPr/>
        </p:nvSpPr>
        <p:spPr>
          <a:xfrm>
            <a:off x="950976" y="2758948"/>
            <a:ext cx="10088575" cy="327660"/>
          </a:xfrm>
          <a:prstGeom prst="rect">
            <a:avLst/>
          </a:prstGeom>
          <a:noFill/>
        </p:spPr>
        <p:txBody>
          <a:bodyPr wrap="square" anchor="t" lIns="0" rIns="0" tIns="0" bIns="0">
            <a:spAutoFit/>
          </a:bodyPr>
          <a:lstStyle/>
          <a:p>
            <a:pPr algn="l"/>
            <a:r>
              <a:rPr sz="1500" b="0" i="0">
                <a:solidFill>
                  <a:srgbClr val="666666"/>
                </a:solidFill>
                <a:latin typeface="Segoe UI"/>
              </a:rPr>
              <a:t>Roughly 3,456 lines of hand-written code do everything after that.</a:t>
            </a:r>
          </a:p>
        </p:txBody>
      </p:sp>
      <p:sp>
        <p:nvSpPr>
          <p:cNvPr id="9" name="Oval 8"/>
          <p:cNvSpPr/>
          <p:nvPr/>
        </p:nvSpPr>
        <p:spPr>
          <a:xfrm>
            <a:off x="667512" y="3278631"/>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187192"/>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 open question is how much of that hand-written work a model could do</a:t>
            </a:r>
          </a:p>
        </p:txBody>
      </p:sp>
      <p:sp>
        <p:nvSpPr>
          <p:cNvPr id="11" name="TextBox 10"/>
          <p:cNvSpPr txBox="1"/>
          <p:nvPr/>
        </p:nvSpPr>
        <p:spPr>
          <a:xfrm>
            <a:off x="950976" y="3562096"/>
            <a:ext cx="10088575" cy="327660"/>
          </a:xfrm>
          <a:prstGeom prst="rect">
            <a:avLst/>
          </a:prstGeom>
          <a:noFill/>
        </p:spPr>
        <p:txBody>
          <a:bodyPr wrap="square" anchor="t" lIns="0" rIns="0" tIns="0" bIns="0">
            <a:spAutoFit/>
          </a:bodyPr>
          <a:lstStyle/>
          <a:p>
            <a:pPr algn="l"/>
            <a:r>
              <a:rPr sz="1500" b="0" i="0">
                <a:solidFill>
                  <a:srgbClr val="666666"/>
                </a:solidFill>
                <a:latin typeface="Segoe UI"/>
              </a:rPr>
              <a:t>Nobody has measured it. Not in this paper, not elsewhere for this problem.</a:t>
            </a:r>
          </a:p>
        </p:txBody>
      </p:sp>
      <p:sp>
        <p:nvSpPr>
          <p:cNvPr id="12" name="Oval 11"/>
          <p:cNvSpPr/>
          <p:nvPr/>
        </p:nvSpPr>
        <p:spPr>
          <a:xfrm>
            <a:off x="667512" y="408178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3990340"/>
            <a:ext cx="10600639" cy="374904"/>
          </a:xfrm>
          <a:prstGeom prst="rect">
            <a:avLst/>
          </a:prstGeom>
          <a:noFill/>
        </p:spPr>
        <p:txBody>
          <a:bodyPr wrap="square" anchor="t" lIns="0" rIns="0" tIns="0" bIns="0">
            <a:spAutoFit/>
          </a:bodyPr>
          <a:lstStyle/>
          <a:p>
            <a:pPr algn="l"/>
            <a:r>
              <a:rPr sz="1800" b="1" i="0">
                <a:solidFill>
                  <a:srgbClr val="333333"/>
                </a:solidFill>
                <a:latin typeface="Segoe UI"/>
              </a:rPr>
              <a:t>Answering it needs a fair comparison, not an impression</a:t>
            </a:r>
          </a:p>
        </p:txBody>
      </p:sp>
      <p:sp>
        <p:nvSpPr>
          <p:cNvPr id="14" name="TextBox 13"/>
          <p:cNvSpPr txBox="1"/>
          <p:nvPr/>
        </p:nvSpPr>
        <p:spPr>
          <a:xfrm>
            <a:off x="950976" y="4365244"/>
            <a:ext cx="10088575" cy="327660"/>
          </a:xfrm>
          <a:prstGeom prst="rect">
            <a:avLst/>
          </a:prstGeom>
          <a:noFill/>
        </p:spPr>
        <p:txBody>
          <a:bodyPr wrap="square" anchor="t" lIns="0" rIns="0" tIns="0" bIns="0">
            <a:spAutoFit/>
          </a:bodyPr>
          <a:lstStyle/>
          <a:p>
            <a:pPr algn="l"/>
            <a:r>
              <a:rPr sz="1500" b="0" i="0">
                <a:solidFill>
                  <a:srgbClr val="666666"/>
                </a:solidFill>
                <a:latin typeface="Segoe UI"/>
              </a:rPr>
              <a:t>Same inputs, same yardstick, cost and reliability measured on both sides.</a:t>
            </a:r>
          </a:p>
        </p:txBody>
      </p:sp>
      <p:sp>
        <p:nvSpPr>
          <p:cNvPr id="15" name="Oval 14"/>
          <p:cNvSpPr/>
          <p:nvPr/>
        </p:nvSpPr>
        <p:spPr>
          <a:xfrm>
            <a:off x="667512" y="488492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4793488"/>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There is a second payoff</a:t>
            </a:r>
          </a:p>
        </p:txBody>
      </p:sp>
      <p:sp>
        <p:nvSpPr>
          <p:cNvPr id="17" name="TextBox 16"/>
          <p:cNvSpPr txBox="1"/>
          <p:nvPr/>
        </p:nvSpPr>
        <p:spPr>
          <a:xfrm>
            <a:off x="950976" y="5168392"/>
            <a:ext cx="10088575" cy="327660"/>
          </a:xfrm>
          <a:prstGeom prst="rect">
            <a:avLst/>
          </a:prstGeom>
          <a:noFill/>
        </p:spPr>
        <p:txBody>
          <a:bodyPr wrap="square" anchor="t" lIns="0" rIns="0" tIns="0" bIns="0">
            <a:spAutoFit/>
          </a:bodyPr>
          <a:lstStyle/>
          <a:p>
            <a:pPr algn="l"/>
            <a:r>
              <a:rPr sz="1500" b="0" i="0">
                <a:solidFill>
                  <a:srgbClr val="666666"/>
                </a:solidFill>
                <a:latin typeface="Segoe UI"/>
              </a:rPr>
              <a:t>The findings feed a revised version of the paper, which was not accepted on first submission.</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master_idea</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The goal, in two steps</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365760"/>
          </a:xfrm>
          <a:prstGeom prst="rect">
            <a:avLst/>
          </a:prstGeom>
          <a:noFill/>
        </p:spPr>
        <p:txBody>
          <a:bodyPr wrap="square" anchor="t" lIns="0" rIns="0" tIns="0" bIns="0">
            <a:spAutoFit/>
          </a:bodyPr>
          <a:lstStyle/>
          <a:p>
            <a:pPr algn="l"/>
            <a:r>
              <a:rPr sz="1800" b="0" i="0">
                <a:solidFill>
                  <a:srgbClr val="666666"/>
                </a:solidFill>
                <a:latin typeface="Segoe UI"/>
              </a:rPr>
              <a:t>The order matters more than the ambition.</a:t>
            </a:r>
          </a:p>
        </p:txBody>
      </p:sp>
      <p:sp>
        <p:nvSpPr>
          <p:cNvPr id="5" name="Rounded Rectangle 4"/>
          <p:cNvSpPr/>
          <p:nvPr/>
        </p:nvSpPr>
        <p:spPr>
          <a:xfrm>
            <a:off x="640080" y="1901952"/>
            <a:ext cx="5067147" cy="3310127"/>
          </a:xfrm>
          <a:prstGeom prst="roundRect">
            <a:avLst/>
          </a:prstGeom>
          <a:solidFill>
            <a:srgbClr val="EAF0F8"/>
          </a:solidFill>
          <a:ln w="254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24127" y="2231136"/>
            <a:ext cx="4299051" cy="237744"/>
          </a:xfrm>
          <a:prstGeom prst="rect">
            <a:avLst/>
          </a:prstGeom>
          <a:noFill/>
        </p:spPr>
        <p:txBody>
          <a:bodyPr wrap="square" anchor="t" lIns="0" rIns="0" tIns="0" bIns="0">
            <a:spAutoFit/>
          </a:bodyPr>
          <a:lstStyle/>
          <a:p>
            <a:pPr algn="l"/>
            <a:r>
              <a:rPr sz="1200" b="1" i="0">
                <a:solidFill>
                  <a:srgbClr val="4A6FA5"/>
                </a:solidFill>
                <a:latin typeface="Segoe UI"/>
              </a:rPr>
              <a:t>STEP ONE  ·  NOW</a:t>
            </a:r>
          </a:p>
        </p:txBody>
      </p:sp>
      <p:sp>
        <p:nvSpPr>
          <p:cNvPr id="7" name="TextBox 6"/>
          <p:cNvSpPr txBox="1"/>
          <p:nvPr/>
        </p:nvSpPr>
        <p:spPr>
          <a:xfrm>
            <a:off x="1024127" y="2542032"/>
            <a:ext cx="4299051" cy="475488"/>
          </a:xfrm>
          <a:prstGeom prst="rect">
            <a:avLst/>
          </a:prstGeom>
          <a:noFill/>
        </p:spPr>
        <p:txBody>
          <a:bodyPr wrap="square" anchor="t" lIns="0" rIns="0" tIns="0" bIns="0">
            <a:spAutoFit/>
          </a:bodyPr>
          <a:lstStyle/>
          <a:p>
            <a:pPr algn="l"/>
            <a:r>
              <a:rPr sz="2700" b="1" i="0">
                <a:solidFill>
                  <a:srgbClr val="333333"/>
                </a:solidFill>
                <a:latin typeface="Segoe UI"/>
              </a:rPr>
              <a:t>Replicate</a:t>
            </a:r>
          </a:p>
        </p:txBody>
      </p:sp>
      <p:sp>
        <p:nvSpPr>
          <p:cNvPr id="8" name="TextBox 7"/>
          <p:cNvSpPr txBox="1"/>
          <p:nvPr/>
        </p:nvSpPr>
        <p:spPr>
          <a:xfrm>
            <a:off x="1024127" y="3090672"/>
            <a:ext cx="4299051" cy="729234"/>
          </a:xfrm>
          <a:prstGeom prst="rect">
            <a:avLst/>
          </a:prstGeom>
          <a:noFill/>
        </p:spPr>
        <p:txBody>
          <a:bodyPr wrap="square" anchor="t" lIns="0" rIns="0" tIns="0" bIns="0">
            <a:spAutoFit/>
          </a:bodyPr>
          <a:lstStyle/>
          <a:p>
            <a:pPr algn="l"/>
            <a:r>
              <a:rPr sz="1350" b="0" i="0">
                <a:solidFill>
                  <a:srgbClr val="333333"/>
                </a:solidFill>
                <a:latin typeface="Segoe UI"/>
              </a:rPr>
              <a:t>Reproduce what Caruca does today, using a language model in place of its hand-written logic.</a:t>
            </a:r>
          </a:p>
        </p:txBody>
      </p:sp>
      <p:sp>
        <p:nvSpPr>
          <p:cNvPr id="9" name="TextBox 8"/>
          <p:cNvSpPr txBox="1"/>
          <p:nvPr/>
        </p:nvSpPr>
        <p:spPr>
          <a:xfrm>
            <a:off x="1024127" y="3847337"/>
            <a:ext cx="4299051" cy="516635"/>
          </a:xfrm>
          <a:prstGeom prst="rect">
            <a:avLst/>
          </a:prstGeom>
          <a:noFill/>
        </p:spPr>
        <p:txBody>
          <a:bodyPr wrap="square" anchor="t" lIns="0" rIns="0" tIns="0" bIns="0">
            <a:spAutoFit/>
          </a:bodyPr>
          <a:lstStyle/>
          <a:p>
            <a:pPr algn="l"/>
            <a:r>
              <a:rPr sz="1350" b="0" i="0">
                <a:solidFill>
                  <a:srgbClr val="333333"/>
                </a:solidFill>
                <a:latin typeface="Segoe UI"/>
              </a:rPr>
              <a:t>Same inputs. Same yardstick. Measured head to head.</a:t>
            </a:r>
          </a:p>
        </p:txBody>
      </p:sp>
      <p:sp>
        <p:nvSpPr>
          <p:cNvPr id="10" name="TextBox 9"/>
          <p:cNvSpPr txBox="1"/>
          <p:nvPr/>
        </p:nvSpPr>
        <p:spPr>
          <a:xfrm>
            <a:off x="1024127" y="4391405"/>
            <a:ext cx="4299051" cy="516635"/>
          </a:xfrm>
          <a:prstGeom prst="rect">
            <a:avLst/>
          </a:prstGeom>
          <a:noFill/>
        </p:spPr>
        <p:txBody>
          <a:bodyPr wrap="square" anchor="t" lIns="0" rIns="0" tIns="0" bIns="0">
            <a:spAutoFit/>
          </a:bodyPr>
          <a:lstStyle/>
          <a:p>
            <a:pPr algn="l"/>
            <a:r>
              <a:rPr sz="1350" b="0" i="0">
                <a:solidFill>
                  <a:srgbClr val="333333"/>
                </a:solidFill>
                <a:latin typeface="Segoe UI"/>
              </a:rPr>
              <a:t>Also measure what each approach costs, and whether repeated runs agree with each other.</a:t>
            </a:r>
          </a:p>
        </p:txBody>
      </p:sp>
      <p:sp>
        <p:nvSpPr>
          <p:cNvPr id="11" name="Rounded Rectangle 10"/>
          <p:cNvSpPr/>
          <p:nvPr/>
        </p:nvSpPr>
        <p:spPr>
          <a:xfrm>
            <a:off x="6484467" y="1901952"/>
            <a:ext cx="5067147" cy="3310127"/>
          </a:xfrm>
          <a:prstGeom prst="roundRect">
            <a:avLst/>
          </a:prstGeom>
          <a:solidFill>
            <a:srgbClr val="FFFFFF"/>
          </a:solidFill>
          <a:ln w="1587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6868515" y="2231136"/>
            <a:ext cx="4299051" cy="237744"/>
          </a:xfrm>
          <a:prstGeom prst="rect">
            <a:avLst/>
          </a:prstGeom>
          <a:noFill/>
        </p:spPr>
        <p:txBody>
          <a:bodyPr wrap="square" anchor="t" lIns="0" rIns="0" tIns="0" bIns="0">
            <a:spAutoFit/>
          </a:bodyPr>
          <a:lstStyle/>
          <a:p>
            <a:pPr algn="l"/>
            <a:r>
              <a:rPr sz="1200" b="1" i="0">
                <a:solidFill>
                  <a:srgbClr val="666666"/>
                </a:solidFill>
                <a:latin typeface="Segoe UI"/>
              </a:rPr>
              <a:t>STEP TWO  ·  LATER</a:t>
            </a:r>
          </a:p>
        </p:txBody>
      </p:sp>
      <p:sp>
        <p:nvSpPr>
          <p:cNvPr id="13" name="TextBox 12"/>
          <p:cNvSpPr txBox="1"/>
          <p:nvPr/>
        </p:nvSpPr>
        <p:spPr>
          <a:xfrm>
            <a:off x="6868515" y="2542032"/>
            <a:ext cx="4299051" cy="475488"/>
          </a:xfrm>
          <a:prstGeom prst="rect">
            <a:avLst/>
          </a:prstGeom>
          <a:noFill/>
        </p:spPr>
        <p:txBody>
          <a:bodyPr wrap="square" anchor="t" lIns="0" rIns="0" tIns="0" bIns="0">
            <a:spAutoFit/>
          </a:bodyPr>
          <a:lstStyle/>
          <a:p>
            <a:pPr algn="l"/>
            <a:r>
              <a:rPr sz="2700" b="1" i="0">
                <a:solidFill>
                  <a:srgbClr val="666666"/>
                </a:solidFill>
                <a:latin typeface="Segoe UI"/>
              </a:rPr>
              <a:t>Extend</a:t>
            </a:r>
          </a:p>
        </p:txBody>
      </p:sp>
      <p:sp>
        <p:nvSpPr>
          <p:cNvPr id="14" name="TextBox 13"/>
          <p:cNvSpPr txBox="1"/>
          <p:nvPr/>
        </p:nvSpPr>
        <p:spPr>
          <a:xfrm>
            <a:off x="6868515" y="3090672"/>
            <a:ext cx="4299051" cy="516635"/>
          </a:xfrm>
          <a:prstGeom prst="rect">
            <a:avLst/>
          </a:prstGeom>
          <a:noFill/>
        </p:spPr>
        <p:txBody>
          <a:bodyPr wrap="square" anchor="t" lIns="0" rIns="0" tIns="0" bIns="0">
            <a:spAutoFit/>
          </a:bodyPr>
          <a:lstStyle/>
          <a:p>
            <a:pPr algn="l"/>
            <a:r>
              <a:rPr sz="1350" b="0" i="0">
                <a:solidFill>
                  <a:srgbClr val="666666"/>
                </a:solidFill>
                <a:latin typeface="Segoe UI"/>
              </a:rPr>
              <a:t>Only once step one is measured, extend to things Caruca was not built to cover.</a:t>
            </a:r>
          </a:p>
        </p:txBody>
      </p:sp>
      <p:sp>
        <p:nvSpPr>
          <p:cNvPr id="15" name="TextBox 14"/>
          <p:cNvSpPr txBox="1"/>
          <p:nvPr/>
        </p:nvSpPr>
        <p:spPr>
          <a:xfrm>
            <a:off x="6868515" y="3634739"/>
            <a:ext cx="4299051" cy="516635"/>
          </a:xfrm>
          <a:prstGeom prst="rect">
            <a:avLst/>
          </a:prstGeom>
          <a:noFill/>
        </p:spPr>
        <p:txBody>
          <a:bodyPr wrap="square" anchor="t" lIns="0" rIns="0" tIns="0" bIns="0">
            <a:spAutoFit/>
          </a:bodyPr>
          <a:lstStyle/>
          <a:p>
            <a:pPr algn="l"/>
            <a:r>
              <a:rPr sz="1350" b="0" i="0">
                <a:solidFill>
                  <a:srgbClr val="666666"/>
                </a:solidFill>
                <a:latin typeface="Segoe UI"/>
              </a:rPr>
              <a:t>Destructive commands. Richer test conditions. Commands with poor documentation.</a:t>
            </a:r>
          </a:p>
        </p:txBody>
      </p:sp>
      <p:sp>
        <p:nvSpPr>
          <p:cNvPr id="16" name="TextBox 15"/>
          <p:cNvSpPr txBox="1"/>
          <p:nvPr/>
        </p:nvSpPr>
        <p:spPr>
          <a:xfrm>
            <a:off x="6868515" y="4178807"/>
            <a:ext cx="4299051" cy="516635"/>
          </a:xfrm>
          <a:prstGeom prst="rect">
            <a:avLst/>
          </a:prstGeom>
          <a:noFill/>
        </p:spPr>
        <p:txBody>
          <a:bodyPr wrap="square" anchor="t" lIns="0" rIns="0" tIns="0" bIns="0">
            <a:spAutoFit/>
          </a:bodyPr>
          <a:lstStyle/>
          <a:p>
            <a:pPr algn="l"/>
            <a:r>
              <a:rPr sz="1350" b="0" i="0">
                <a:solidFill>
                  <a:srgbClr val="666666"/>
                </a:solidFill>
                <a:latin typeface="Segoe UI"/>
              </a:rPr>
              <a:t>Surveyed and sequenced, so we know what is there. Not started.</a:t>
            </a:r>
          </a:p>
        </p:txBody>
      </p:sp>
      <p:sp>
        <p:nvSpPr>
          <p:cNvPr id="17" name="Rounded Rectangle 16"/>
          <p:cNvSpPr/>
          <p:nvPr/>
        </p:nvSpPr>
        <p:spPr>
          <a:xfrm>
            <a:off x="640080" y="5431536"/>
            <a:ext cx="10911535" cy="566928"/>
          </a:xfrm>
          <a:prstGeom prst="roundRect">
            <a:avLst/>
          </a:prstGeom>
          <a:solidFill>
            <a:srgbClr val="FBF0DC"/>
          </a:solidFill>
          <a:ln w="15875">
            <a:solidFill>
              <a:srgbClr val="C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r>
              <a:rPr sz="1650" b="1" i="0">
                <a:solidFill>
                  <a:srgbClr val="333333"/>
                </a:solidFill>
                <a:latin typeface="Segoe UI"/>
              </a:rPr>
              <a:t>We are not attempting step two yet. Step one has to work and be measured first.</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master_idea</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How the pieces fit together</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384048"/>
          </a:xfrm>
          <a:prstGeom prst="rect">
            <a:avLst/>
          </a:prstGeom>
          <a:noFill/>
        </p:spPr>
        <p:txBody>
          <a:bodyPr wrap="square" anchor="t" lIns="0" rIns="0" tIns="0" bIns="0">
            <a:spAutoFit/>
          </a:bodyPr>
          <a:lstStyle/>
          <a:p>
            <a:pPr algn="l"/>
            <a:r>
              <a:rPr sz="1700" b="0" i="0">
                <a:solidFill>
                  <a:srgbClr val="666666"/>
                </a:solidFill>
                <a:latin typeface="Segoe UI"/>
              </a:rPr>
              <a:t>Caruca's existing machinery is reused unchanged. The new work sits alongside it.</a:t>
            </a:r>
          </a:p>
        </p:txBody>
      </p:sp>
      <p:pic>
        <p:nvPicPr>
          <p:cNvPr id="5" name="Picture 4" descr="002_architecture_widescreen.png"/>
          <p:cNvPicPr>
            <a:picLocks noChangeAspect="1"/>
          </p:cNvPicPr>
          <p:nvPr/>
        </p:nvPicPr>
        <p:blipFill>
          <a:blip r:embed="rId2"/>
          <a:stretch>
            <a:fillRect/>
          </a:stretch>
        </p:blipFill>
        <p:spPr>
          <a:xfrm>
            <a:off x="2151054" y="1865376"/>
            <a:ext cx="7889585" cy="4114800"/>
          </a:xfrm>
          <a:prstGeom prst="rect">
            <a:avLst/>
          </a:prstGeom>
        </p:spPr>
      </p:pic>
      <p:sp>
        <p:nvSpPr>
          <p:cNvPr id="6" name="TextBox 5"/>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system_architecture</a:t>
            </a:r>
          </a:p>
        </p:txBody>
      </p:sp>
      <p:sp>
        <p:nvSpPr>
          <p:cNvPr id="7" name="Rectangle 6"/>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9" name="TextBox 8"/>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Step one is deliberately simple</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545775" cy="390651"/>
          </a:xfrm>
          <a:prstGeom prst="rect">
            <a:avLst/>
          </a:prstGeom>
          <a:noFill/>
        </p:spPr>
        <p:txBody>
          <a:bodyPr wrap="square" anchor="t" lIns="0" rIns="0" tIns="0" bIns="0">
            <a:spAutoFit/>
          </a:bodyPr>
          <a:lstStyle/>
          <a:p>
            <a:pPr algn="l"/>
            <a:r>
              <a:rPr sz="1900" b="0" i="0">
                <a:solidFill>
                  <a:srgbClr val="666666"/>
                </a:solidFill>
                <a:latin typeface="Segoe UI"/>
              </a:rPr>
              <a:t>The first version is not engineered to win. That is the point.</a:t>
            </a:r>
          </a:p>
        </p:txBody>
      </p:sp>
      <p:sp>
        <p:nvSpPr>
          <p:cNvPr id="5" name="Oval 4"/>
          <p:cNvSpPr/>
          <p:nvPr/>
        </p:nvSpPr>
        <p:spPr>
          <a:xfrm>
            <a:off x="667512" y="2146299"/>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50976" y="2054860"/>
            <a:ext cx="10600639" cy="374904"/>
          </a:xfrm>
          <a:prstGeom prst="rect">
            <a:avLst/>
          </a:prstGeom>
          <a:noFill/>
        </p:spPr>
        <p:txBody>
          <a:bodyPr wrap="square" anchor="t" lIns="0" rIns="0" tIns="0" bIns="0">
            <a:spAutoFit/>
          </a:bodyPr>
          <a:lstStyle/>
          <a:p>
            <a:pPr algn="l"/>
            <a:r>
              <a:rPr sz="1800" b="1" i="0">
                <a:solidFill>
                  <a:srgbClr val="333333"/>
                </a:solidFill>
                <a:latin typeface="Segoe UI"/>
              </a:rPr>
              <a:t>One prompt. No tools, no retries, no tuning</a:t>
            </a:r>
          </a:p>
        </p:txBody>
      </p:sp>
      <p:sp>
        <p:nvSpPr>
          <p:cNvPr id="7" name="TextBox 6"/>
          <p:cNvSpPr txBox="1"/>
          <p:nvPr/>
        </p:nvSpPr>
        <p:spPr>
          <a:xfrm>
            <a:off x="950976" y="2429764"/>
            <a:ext cx="10088575" cy="327660"/>
          </a:xfrm>
          <a:prstGeom prst="rect">
            <a:avLst/>
          </a:prstGeom>
          <a:noFill/>
        </p:spPr>
        <p:txBody>
          <a:bodyPr wrap="square" anchor="t" lIns="0" rIns="0" tIns="0" bIns="0">
            <a:spAutoFit/>
          </a:bodyPr>
          <a:lstStyle/>
          <a:p>
            <a:pPr algn="l"/>
            <a:r>
              <a:rPr sz="1500" b="0" i="0">
                <a:solidFill>
                  <a:srgbClr val="666666"/>
                </a:solidFill>
                <a:latin typeface="Segoe UI"/>
              </a:rPr>
              <a:t>Give the model a command's manual page, ask for a description of its options, stop there.</a:t>
            </a:r>
          </a:p>
        </p:txBody>
      </p:sp>
      <p:sp>
        <p:nvSpPr>
          <p:cNvPr id="8" name="Oval 7"/>
          <p:cNvSpPr/>
          <p:nvPr/>
        </p:nvSpPr>
        <p:spPr>
          <a:xfrm>
            <a:off x="667512" y="294944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50976" y="2858008"/>
            <a:ext cx="10600639" cy="374904"/>
          </a:xfrm>
          <a:prstGeom prst="rect">
            <a:avLst/>
          </a:prstGeom>
          <a:noFill/>
        </p:spPr>
        <p:txBody>
          <a:bodyPr wrap="square" anchor="t" lIns="0" rIns="0" tIns="0" bIns="0">
            <a:spAutoFit/>
          </a:bodyPr>
          <a:lstStyle/>
          <a:p>
            <a:pPr algn="l"/>
            <a:r>
              <a:rPr sz="1800" b="1" i="0">
                <a:solidFill>
                  <a:srgbClr val="333333"/>
                </a:solidFill>
                <a:latin typeface="Segoe UI"/>
              </a:rPr>
              <a:t>This follows William's guidance directly</a:t>
            </a:r>
          </a:p>
        </p:txBody>
      </p:sp>
      <p:sp>
        <p:nvSpPr>
          <p:cNvPr id="10" name="TextBox 9"/>
          <p:cNvSpPr txBox="1"/>
          <p:nvPr/>
        </p:nvSpPr>
        <p:spPr>
          <a:xfrm>
            <a:off x="950976" y="3232912"/>
            <a:ext cx="10088575" cy="327660"/>
          </a:xfrm>
          <a:prstGeom prst="rect">
            <a:avLst/>
          </a:prstGeom>
          <a:noFill/>
        </p:spPr>
        <p:txBody>
          <a:bodyPr wrap="square" anchor="t" lIns="0" rIns="0" tIns="0" bIns="0">
            <a:spAutoFit/>
          </a:bodyPr>
          <a:lstStyle/>
          <a:p>
            <a:pPr algn="l"/>
            <a:r>
              <a:rPr sz="1500" b="0" i="0">
                <a:solidFill>
                  <a:srgbClr val="666666"/>
                </a:solidFill>
                <a:latin typeface="Segoe UI"/>
              </a:rPr>
              <a:t>The goal is a fair control, not the best possible specification generator.</a:t>
            </a:r>
          </a:p>
        </p:txBody>
      </p:sp>
      <p:sp>
        <p:nvSpPr>
          <p:cNvPr id="11" name="Oval 10"/>
          <p:cNvSpPr/>
          <p:nvPr/>
        </p:nvSpPr>
        <p:spPr>
          <a:xfrm>
            <a:off x="667512" y="375259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950976" y="3661156"/>
            <a:ext cx="10600639" cy="374904"/>
          </a:xfrm>
          <a:prstGeom prst="rect">
            <a:avLst/>
          </a:prstGeom>
          <a:noFill/>
        </p:spPr>
        <p:txBody>
          <a:bodyPr wrap="square" anchor="t" lIns="0" rIns="0" tIns="0" bIns="0">
            <a:spAutoFit/>
          </a:bodyPr>
          <a:lstStyle/>
          <a:p>
            <a:pPr algn="l"/>
            <a:r>
              <a:rPr sz="1800" b="1" i="0">
                <a:solidFill>
                  <a:srgbClr val="333333"/>
                </a:solidFill>
                <a:latin typeface="Segoe UI"/>
              </a:rPr>
              <a:t>A weak first version makes the comparison more honest, not less</a:t>
            </a:r>
          </a:p>
        </p:txBody>
      </p:sp>
      <p:sp>
        <p:nvSpPr>
          <p:cNvPr id="13" name="TextBox 12"/>
          <p:cNvSpPr txBox="1"/>
          <p:nvPr/>
        </p:nvSpPr>
        <p:spPr>
          <a:xfrm>
            <a:off x="950976" y="4036060"/>
            <a:ext cx="10088575" cy="563880"/>
          </a:xfrm>
          <a:prstGeom prst="rect">
            <a:avLst/>
          </a:prstGeom>
          <a:noFill/>
        </p:spPr>
        <p:txBody>
          <a:bodyPr wrap="square" anchor="t" lIns="0" rIns="0" tIns="0" bIns="0">
            <a:spAutoFit/>
          </a:bodyPr>
          <a:lstStyle/>
          <a:p>
            <a:pPr algn="l"/>
            <a:r>
              <a:rPr sz="1500" b="0" i="0">
                <a:solidFill>
                  <a:srgbClr val="666666"/>
                </a:solidFill>
                <a:latin typeface="Segoe UI"/>
              </a:rPr>
              <a:t>If a plain prompt already does well, that is a real finding. If it does badly, that measures what Caruca's engineering actually buys.</a:t>
            </a:r>
          </a:p>
        </p:txBody>
      </p:sp>
      <p:sp>
        <p:nvSpPr>
          <p:cNvPr id="14" name="Oval 13"/>
          <p:cNvSpPr/>
          <p:nvPr/>
        </p:nvSpPr>
        <p:spPr>
          <a:xfrm>
            <a:off x="667512" y="479196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950976" y="4700524"/>
            <a:ext cx="10600639" cy="374904"/>
          </a:xfrm>
          <a:prstGeom prst="rect">
            <a:avLst/>
          </a:prstGeom>
          <a:noFill/>
        </p:spPr>
        <p:txBody>
          <a:bodyPr wrap="square" anchor="t" lIns="0" rIns="0" tIns="0" bIns="0">
            <a:spAutoFit/>
          </a:bodyPr>
          <a:lstStyle/>
          <a:p>
            <a:pPr algn="l"/>
            <a:r>
              <a:rPr sz="1800" b="1" i="0">
                <a:solidFill>
                  <a:srgbClr val="333333"/>
                </a:solidFill>
                <a:latin typeface="Segoe UI"/>
              </a:rPr>
              <a:t>Tuning it later is a separate experiment</a:t>
            </a:r>
          </a:p>
        </p:txBody>
      </p:sp>
      <p:sp>
        <p:nvSpPr>
          <p:cNvPr id="16" name="TextBox 15"/>
          <p:cNvSpPr txBox="1"/>
          <p:nvPr/>
        </p:nvSpPr>
        <p:spPr>
          <a:xfrm>
            <a:off x="950976" y="5075428"/>
            <a:ext cx="10088575" cy="327660"/>
          </a:xfrm>
          <a:prstGeom prst="rect">
            <a:avLst/>
          </a:prstGeom>
          <a:noFill/>
        </p:spPr>
        <p:txBody>
          <a:bodyPr wrap="square" anchor="t" lIns="0" rIns="0" tIns="0" bIns="0">
            <a:spAutoFit/>
          </a:bodyPr>
          <a:lstStyle/>
          <a:p>
            <a:pPr algn="l"/>
            <a:r>
              <a:rPr sz="1500" b="0" i="0">
                <a:solidFill>
                  <a:srgbClr val="666666"/>
                </a:solidFill>
                <a:latin typeface="Segoe UI"/>
              </a:rPr>
              <a:t>Mixing the two would make it impossible to say which part produced the result.</a:t>
            </a:r>
          </a:p>
        </p:txBody>
      </p:sp>
      <p:sp>
        <p:nvSpPr>
          <p:cNvPr id="17" name="TextBox 16"/>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master_idea, component_functionality</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7</a:t>
            </a:r>
          </a:p>
        </p:txBody>
      </p:sp>
      <p:sp>
        <p:nvSpPr>
          <p:cNvPr id="21" name="Rounded Rectangle 20"/>
          <p:cNvSpPr/>
          <p:nvPr/>
        </p:nvSpPr>
        <p:spPr>
          <a:xfrm>
            <a:off x="9018727" y="6400800"/>
            <a:ext cx="1481328" cy="237744"/>
          </a:xfrm>
          <a:prstGeom prst="roundRect">
            <a:avLst/>
          </a:prstGeom>
          <a:solidFill>
            <a:srgbClr val="EAF0F8"/>
          </a:solidFill>
          <a:ln w="9525">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4A6FA5"/>
                </a:solidFill>
                <a:latin typeface="Segoe UI"/>
              </a:rPr>
              <a:t>Step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WHAT THE REVIEW TURNED UP</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Two things nobody has measured yet</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411480"/>
          </a:xfrm>
          <a:prstGeom prst="rect">
            <a:avLst/>
          </a:prstGeom>
          <a:noFill/>
        </p:spPr>
        <p:txBody>
          <a:bodyPr wrap="square" anchor="t" lIns="0" rIns="0" tIns="0" bIns="0">
            <a:spAutoFit/>
          </a:bodyPr>
          <a:lstStyle/>
          <a:p>
            <a:pPr algn="l"/>
            <a:r>
              <a:rPr sz="1700" b="0" i="0">
                <a:solidFill>
                  <a:srgbClr val="666666"/>
                </a:solidFill>
                <a:latin typeface="Segoe UI"/>
              </a:rPr>
              <a:t>Both are straightforward to add, and both produce numbers that do not currently exist.</a:t>
            </a:r>
          </a:p>
        </p:txBody>
      </p:sp>
      <p:sp>
        <p:nvSpPr>
          <p:cNvPr id="6" name="Rounded Rectangle 5"/>
          <p:cNvSpPr/>
          <p:nvPr/>
        </p:nvSpPr>
        <p:spPr>
          <a:xfrm>
            <a:off x="640080" y="2249424"/>
            <a:ext cx="10911535" cy="158496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69264" y="2468880"/>
            <a:ext cx="5673998" cy="121920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The paper reports how long Caruca takes to run, but never what its AI step costs in tokens or money. No cost figure for the model exists.</a:t>
            </a:r>
          </a:p>
        </p:txBody>
      </p:sp>
      <p:sp>
        <p:nvSpPr>
          <p:cNvPr id="8" name="Rectangle 7"/>
          <p:cNvSpPr/>
          <p:nvPr/>
        </p:nvSpPr>
        <p:spPr>
          <a:xfrm>
            <a:off x="6750539" y="2450592"/>
            <a:ext cx="10972" cy="118262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87001" y="2468880"/>
            <a:ext cx="4037268" cy="121920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We measure tokens, cost and time on both sides, and report them. This is a number the original work never published.</a:t>
            </a:r>
          </a:p>
        </p:txBody>
      </p:sp>
      <p:sp>
        <p:nvSpPr>
          <p:cNvPr id="10" name="Rounded Rectangle 9"/>
          <p:cNvSpPr/>
          <p:nvPr/>
        </p:nvSpPr>
        <p:spPr>
          <a:xfrm>
            <a:off x="640080" y="4072128"/>
            <a:ext cx="10911535" cy="158496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969264" y="4291584"/>
            <a:ext cx="5673998" cy="121920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Each command's description was generated once. Language models vary between runs, so run-to-run consistency was never tested.</a:t>
            </a:r>
          </a:p>
        </p:txBody>
      </p:sp>
      <p:sp>
        <p:nvSpPr>
          <p:cNvPr id="12" name="Rectangle 11"/>
          <p:cNvSpPr/>
          <p:nvPr/>
        </p:nvSpPr>
        <p:spPr>
          <a:xfrm>
            <a:off x="6750539" y="4273296"/>
            <a:ext cx="10972" cy="118262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87001" y="4291584"/>
            <a:ext cx="4037268" cy="121920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We generate repeatedly and report the spread, for the existing system as well as ours. Variation is itself a result worth reporting.</a:t>
            </a:r>
          </a:p>
        </p:txBody>
      </p:sp>
      <p:sp>
        <p:nvSpPr>
          <p:cNvPr id="14" name="TextBox 13"/>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caruca_white_paper, roadmap</a:t>
            </a:r>
          </a:p>
        </p:txBody>
      </p:sp>
      <p:sp>
        <p:nvSpPr>
          <p:cNvPr id="15" name="Rectangle 14"/>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7" name="TextBox 16"/>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WHAT THE REVIEW TURNED UP</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Two things that affect the plan directly</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73936"/>
            <a:ext cx="10911535" cy="182118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69264" y="1993392"/>
            <a:ext cx="5673998" cy="145542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The published size of Caruca is 6,520 lines. Measuring the current code, roughly 3,130 of those lines are machine-generated command descriptions rather than hand-written logic.</a:t>
            </a:r>
          </a:p>
        </p:txBody>
      </p:sp>
      <p:sp>
        <p:nvSpPr>
          <p:cNvPr id="7" name="Rectangle 6"/>
          <p:cNvSpPr/>
          <p:nvPr/>
        </p:nvSpPr>
        <p:spPr>
          <a:xfrm>
            <a:off x="6750539" y="1975104"/>
            <a:ext cx="10972" cy="14188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87001" y="1993392"/>
            <a:ext cx="4037268" cy="145542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It changes what a claim about replacing hand-written code can honestly say: the real figure is about 3,456 lines. Michael, I would like you to confirm or correct this reading.</a:t>
            </a:r>
          </a:p>
        </p:txBody>
      </p:sp>
      <p:sp>
        <p:nvSpPr>
          <p:cNvPr id="9" name="Rounded Rectangle 8"/>
          <p:cNvSpPr/>
          <p:nvPr/>
        </p:nvSpPr>
        <p:spPr>
          <a:xfrm>
            <a:off x="640080" y="3832860"/>
            <a:ext cx="10911535" cy="182118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69264" y="4052316"/>
            <a:ext cx="5673998" cy="145542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The step that calls the AI model cannot currently run. A library it depends on changed and removed the functions it used.</a:t>
            </a:r>
          </a:p>
        </p:txBody>
      </p:sp>
      <p:sp>
        <p:nvSpPr>
          <p:cNvPr id="11" name="Rectangle 10"/>
          <p:cNvSpPr/>
          <p:nvPr/>
        </p:nvSpPr>
        <p:spPr>
          <a:xfrm>
            <a:off x="6750539" y="4034028"/>
            <a:ext cx="10972" cy="14188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87001" y="4052316"/>
            <a:ext cx="4037268" cy="145542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Repairing it is the first task, and it is also a precondition for measuring cost at all. Small, well understood, already scoped.</a:t>
            </a:r>
          </a:p>
        </p:txBody>
      </p:sp>
      <p:sp>
        <p:nvSpPr>
          <p:cNvPr id="13" name="TextBox 12"/>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caruca_white_paper</a:t>
            </a:r>
          </a:p>
        </p:txBody>
      </p:sp>
      <p:sp>
        <p:nvSpPr>
          <p:cNvPr id="14" name="Rectangle 13"/>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6" name="TextBox 15"/>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STEP TWO MATERIAL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Where testing could reach further</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626871"/>
          </a:xfrm>
          <a:prstGeom prst="rect">
            <a:avLst/>
          </a:prstGeom>
          <a:noFill/>
        </p:spPr>
        <p:txBody>
          <a:bodyPr wrap="square" anchor="t" lIns="0" rIns="0" tIns="0" bIns="0">
            <a:spAutoFit/>
          </a:bodyPr>
          <a:lstStyle/>
          <a:p>
            <a:pPr algn="l"/>
            <a:r>
              <a:rPr sz="1700" b="0" i="0">
                <a:solidFill>
                  <a:srgbClr val="666666"/>
                </a:solidFill>
                <a:latin typeface="Segoe UI"/>
              </a:rPr>
              <a:t>Conditions the current test generator does not produce. All step two, none of it started.</a:t>
            </a:r>
          </a:p>
        </p:txBody>
      </p:sp>
      <p:sp>
        <p:nvSpPr>
          <p:cNvPr id="6" name="Oval 5"/>
          <p:cNvSpPr/>
          <p:nvPr/>
        </p:nvSpPr>
        <p:spPr>
          <a:xfrm>
            <a:off x="667512" y="2699893"/>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620264"/>
            <a:ext cx="10600639" cy="351282"/>
          </a:xfrm>
          <a:prstGeom prst="rect">
            <a:avLst/>
          </a:prstGeom>
          <a:noFill/>
        </p:spPr>
        <p:txBody>
          <a:bodyPr wrap="square" anchor="t" lIns="0" rIns="0" tIns="0" bIns="0">
            <a:spAutoFit/>
          </a:bodyPr>
          <a:lstStyle/>
          <a:p>
            <a:pPr algn="l"/>
            <a:r>
              <a:rPr sz="1650" b="1" i="0">
                <a:solidFill>
                  <a:srgbClr val="333333"/>
                </a:solidFill>
                <a:latin typeface="Segoe UI"/>
              </a:rPr>
              <a:t>Commands that compare two files never get related inputs</a:t>
            </a:r>
          </a:p>
        </p:txBody>
      </p:sp>
      <p:sp>
        <p:nvSpPr>
          <p:cNvPr id="8" name="TextBox 7"/>
          <p:cNvSpPr txBox="1"/>
          <p:nvPr/>
        </p:nvSpPr>
        <p:spPr>
          <a:xfrm>
            <a:off x="950976" y="2971546"/>
            <a:ext cx="10088575" cy="532384"/>
          </a:xfrm>
          <a:prstGeom prst="rect">
            <a:avLst/>
          </a:prstGeom>
          <a:noFill/>
        </p:spPr>
        <p:txBody>
          <a:bodyPr wrap="square" anchor="t" lIns="0" rIns="0" tIns="0" bIns="0">
            <a:spAutoFit/>
          </a:bodyPr>
          <a:lstStyle/>
          <a:p>
            <a:pPr algn="l"/>
            <a:r>
              <a:rPr sz="1400" b="0" i="0">
                <a:solidFill>
                  <a:srgbClr val="666666"/>
                </a:solidFill>
                <a:latin typeface="Segoe UI"/>
              </a:rPr>
              <a:t>Test files are generated independently, so tools like diff and comm are never given identical or overlapping content.</a:t>
            </a:r>
          </a:p>
        </p:txBody>
      </p:sp>
      <p:sp>
        <p:nvSpPr>
          <p:cNvPr id="9" name="Oval 8"/>
          <p:cNvSpPr/>
          <p:nvPr/>
        </p:nvSpPr>
        <p:spPr>
          <a:xfrm>
            <a:off x="667512" y="364756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567938"/>
            <a:ext cx="10600639" cy="351282"/>
          </a:xfrm>
          <a:prstGeom prst="rect">
            <a:avLst/>
          </a:prstGeom>
          <a:noFill/>
        </p:spPr>
        <p:txBody>
          <a:bodyPr wrap="square" anchor="t" lIns="0" rIns="0" tIns="0" bIns="0">
            <a:spAutoFit/>
          </a:bodyPr>
          <a:lstStyle/>
          <a:p>
            <a:pPr algn="l"/>
            <a:r>
              <a:rPr sz="1650" b="1" i="0">
                <a:solidFill>
                  <a:srgbClr val="333333"/>
                </a:solidFill>
                <a:latin typeface="Segoe UI"/>
              </a:rPr>
              <a:t>Directory tests never go deeper than one level</a:t>
            </a:r>
          </a:p>
        </p:txBody>
      </p:sp>
      <p:sp>
        <p:nvSpPr>
          <p:cNvPr id="11" name="TextBox 10"/>
          <p:cNvSpPr txBox="1"/>
          <p:nvPr/>
        </p:nvSpPr>
        <p:spPr>
          <a:xfrm>
            <a:off x="950976" y="3919220"/>
            <a:ext cx="10088575" cy="532384"/>
          </a:xfrm>
          <a:prstGeom prst="rect">
            <a:avLst/>
          </a:prstGeom>
          <a:noFill/>
        </p:spPr>
        <p:txBody>
          <a:bodyPr wrap="square" anchor="t" lIns="0" rIns="0" tIns="0" bIns="0">
            <a:spAutoFit/>
          </a:bodyPr>
          <a:lstStyle/>
          <a:p>
            <a:pPr algn="l"/>
            <a:r>
              <a:rPr sz="1400" b="0" i="0">
                <a:solidFill>
                  <a:srgbClr val="666666"/>
                </a:solidFill>
                <a:latin typeface="Segoe UI"/>
              </a:rPr>
              <a:t>Recursive options are exercised, but never against a tree deep enough to tell recursion from handling a single file.</a:t>
            </a:r>
          </a:p>
        </p:txBody>
      </p:sp>
      <p:sp>
        <p:nvSpPr>
          <p:cNvPr id="12" name="Oval 11"/>
          <p:cNvSpPr/>
          <p:nvPr/>
        </p:nvSpPr>
        <p:spPr>
          <a:xfrm>
            <a:off x="667512" y="4595241"/>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515612"/>
            <a:ext cx="10600639" cy="351282"/>
          </a:xfrm>
          <a:prstGeom prst="rect">
            <a:avLst/>
          </a:prstGeom>
          <a:noFill/>
        </p:spPr>
        <p:txBody>
          <a:bodyPr wrap="square" anchor="t" lIns="0" rIns="0" tIns="0" bIns="0">
            <a:spAutoFit/>
          </a:bodyPr>
          <a:lstStyle/>
          <a:p>
            <a:pPr algn="l"/>
            <a:r>
              <a:rPr sz="1650" b="1" i="0">
                <a:solidFill>
                  <a:srgbClr val="333333"/>
                </a:solidFill>
                <a:latin typeface="Segoe UI"/>
              </a:rPr>
              <a:t>File permissions are never varied</a:t>
            </a:r>
          </a:p>
        </p:txBody>
      </p:sp>
      <p:sp>
        <p:nvSpPr>
          <p:cNvPr id="14" name="TextBox 13"/>
          <p:cNvSpPr txBox="1"/>
          <p:nvPr/>
        </p:nvSpPr>
        <p:spPr>
          <a:xfrm>
            <a:off x="950976" y="4866894"/>
            <a:ext cx="10088575" cy="311912"/>
          </a:xfrm>
          <a:prstGeom prst="rect">
            <a:avLst/>
          </a:prstGeom>
          <a:noFill/>
        </p:spPr>
        <p:txBody>
          <a:bodyPr wrap="square" anchor="t" lIns="0" rIns="0" tIns="0" bIns="0">
            <a:spAutoFit/>
          </a:bodyPr>
          <a:lstStyle/>
          <a:p>
            <a:pPr algn="l"/>
            <a:r>
              <a:rPr sz="1400" b="0" i="0">
                <a:solidFill>
                  <a:srgbClr val="666666"/>
                </a:solidFill>
                <a:latin typeface="Segoe UI"/>
              </a:rPr>
              <a:t>Commands whose whole purpose is permissions have no test that changes them.</a:t>
            </a:r>
          </a:p>
        </p:txBody>
      </p:sp>
      <p:sp>
        <p:nvSpPr>
          <p:cNvPr id="15" name="Oval 14"/>
          <p:cNvSpPr/>
          <p:nvPr/>
        </p:nvSpPr>
        <p:spPr>
          <a:xfrm>
            <a:off x="667512" y="532244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242813"/>
            <a:ext cx="10600639" cy="351282"/>
          </a:xfrm>
          <a:prstGeom prst="rect">
            <a:avLst/>
          </a:prstGeom>
          <a:noFill/>
        </p:spPr>
        <p:txBody>
          <a:bodyPr wrap="square" anchor="t" lIns="0" rIns="0" tIns="0" bIns="0">
            <a:spAutoFit/>
          </a:bodyPr>
          <a:lstStyle/>
          <a:p>
            <a:pPr algn="l"/>
            <a:r>
              <a:rPr sz="1650" b="1" i="0">
                <a:solidFill>
                  <a:srgbClr val="333333"/>
                </a:solidFill>
                <a:latin typeface="Segoe UI"/>
              </a:rPr>
              <a:t>Empty files are never used</a:t>
            </a:r>
          </a:p>
        </p:txBody>
      </p:sp>
      <p:sp>
        <p:nvSpPr>
          <p:cNvPr id="17" name="TextBox 16"/>
          <p:cNvSpPr txBox="1"/>
          <p:nvPr/>
        </p:nvSpPr>
        <p:spPr>
          <a:xfrm>
            <a:off x="950976" y="5594095"/>
            <a:ext cx="10088575" cy="311912"/>
          </a:xfrm>
          <a:prstGeom prst="rect">
            <a:avLst/>
          </a:prstGeom>
          <a:noFill/>
        </p:spPr>
        <p:txBody>
          <a:bodyPr wrap="square" anchor="t" lIns="0" rIns="0" tIns="0" bIns="0">
            <a:spAutoFit/>
          </a:bodyPr>
          <a:lstStyle/>
          <a:p>
            <a:pPr algn="l"/>
            <a:r>
              <a:rPr sz="1400" b="0" i="0">
                <a:solidFill>
                  <a:srgbClr val="666666"/>
                </a:solidFill>
                <a:latin typeface="Segoe UI"/>
              </a:rPr>
              <a:t>A common real-world edge case, and a frequent source of bugs, is absent from the fixtures.</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evaluation_gaps</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10</a:t>
            </a:r>
          </a:p>
        </p:txBody>
      </p:sp>
      <p:sp>
        <p:nvSpPr>
          <p:cNvPr id="22" name="Rounded Rectangle 21"/>
          <p:cNvSpPr/>
          <p:nvPr/>
        </p:nvSpPr>
        <p:spPr>
          <a:xfrm>
            <a:off x="9018727" y="6400800"/>
            <a:ext cx="1481328" cy="237744"/>
          </a:xfrm>
          <a:prstGeom prst="roundRect">
            <a:avLst/>
          </a:prstGeom>
          <a:solidFill>
            <a:srgbClr val="FFFFFF"/>
          </a:solidFill>
          <a:ln w="952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666666"/>
                </a:solidFill>
                <a:latin typeface="Segoe UI"/>
              </a:rPr>
              <a:t>Step two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STEP TWO MATERIAL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extending would actually mean</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411480"/>
          </a:xfrm>
          <a:prstGeom prst="rect">
            <a:avLst/>
          </a:prstGeom>
          <a:noFill/>
        </p:spPr>
        <p:txBody>
          <a:bodyPr wrap="square" anchor="t" lIns="0" rIns="0" tIns="0" bIns="0">
            <a:spAutoFit/>
          </a:bodyPr>
          <a:lstStyle/>
          <a:p>
            <a:pPr algn="l"/>
            <a:r>
              <a:rPr sz="1800" b="0" i="0">
                <a:solidFill>
                  <a:srgbClr val="666666"/>
                </a:solidFill>
                <a:latin typeface="Segoe UI"/>
              </a:rPr>
              <a:t>Concretely, three groups of capability. Later, not now.</a:t>
            </a:r>
          </a:p>
        </p:txBody>
      </p:sp>
      <p:sp>
        <p:nvSpPr>
          <p:cNvPr id="6" name="Rounded Rectangle 5"/>
          <p:cNvSpPr/>
          <p:nvPr/>
        </p:nvSpPr>
        <p:spPr>
          <a:xfrm>
            <a:off x="640080" y="2340864"/>
            <a:ext cx="3466490" cy="2571496"/>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32688" y="2670048"/>
            <a:ext cx="2881274" cy="626871"/>
          </a:xfrm>
          <a:prstGeom prst="rect">
            <a:avLst/>
          </a:prstGeom>
          <a:noFill/>
        </p:spPr>
        <p:txBody>
          <a:bodyPr wrap="square" anchor="t" lIns="0" rIns="0" tIns="0" bIns="0">
            <a:spAutoFit/>
          </a:bodyPr>
          <a:lstStyle/>
          <a:p>
            <a:pPr algn="l"/>
            <a:r>
              <a:rPr sz="1700" b="1" i="0">
                <a:solidFill>
                  <a:srgbClr val="666666"/>
                </a:solidFill>
                <a:latin typeface="Segoe UI"/>
              </a:rPr>
              <a:t>Run destructive commands safely</a:t>
            </a:r>
          </a:p>
        </p:txBody>
      </p:sp>
      <p:sp>
        <p:nvSpPr>
          <p:cNvPr id="8" name="TextBox 7"/>
          <p:cNvSpPr txBox="1"/>
          <p:nvPr/>
        </p:nvSpPr>
        <p:spPr>
          <a:xfrm>
            <a:off x="932688" y="3351784"/>
            <a:ext cx="2881274" cy="1432560"/>
          </a:xfrm>
          <a:prstGeom prst="rect">
            <a:avLst/>
          </a:prstGeom>
          <a:noFill/>
        </p:spPr>
        <p:txBody>
          <a:bodyPr wrap="square" anchor="t" lIns="0" rIns="0" tIns="0" bIns="0">
            <a:spAutoFit/>
          </a:bodyPr>
          <a:lstStyle/>
          <a:p>
            <a:pPr algn="l"/>
            <a:r>
              <a:rPr sz="1400" b="0" i="0">
                <a:solidFill>
                  <a:srgbClr val="666666"/>
                </a:solidFill>
                <a:latin typeface="Segoe UI"/>
              </a:rPr>
              <a:t>Commands that delete or overwrite cannot be tested without somewhere isolated to run them. This needs a technology choice and a hands-on test first.</a:t>
            </a:r>
          </a:p>
        </p:txBody>
      </p:sp>
      <p:sp>
        <p:nvSpPr>
          <p:cNvPr id="9" name="Rounded Rectangle 8"/>
          <p:cNvSpPr/>
          <p:nvPr/>
        </p:nvSpPr>
        <p:spPr>
          <a:xfrm>
            <a:off x="4362602" y="2340864"/>
            <a:ext cx="3466490" cy="2571496"/>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4655210" y="2670048"/>
            <a:ext cx="2881274" cy="359156"/>
          </a:xfrm>
          <a:prstGeom prst="rect">
            <a:avLst/>
          </a:prstGeom>
          <a:noFill/>
        </p:spPr>
        <p:txBody>
          <a:bodyPr wrap="square" anchor="t" lIns="0" rIns="0" tIns="0" bIns="0">
            <a:spAutoFit/>
          </a:bodyPr>
          <a:lstStyle/>
          <a:p>
            <a:pPr algn="l"/>
            <a:r>
              <a:rPr sz="1700" b="1" i="0">
                <a:solidFill>
                  <a:srgbClr val="666666"/>
                </a:solidFill>
                <a:latin typeface="Segoe UI"/>
              </a:rPr>
              <a:t>Richer test conditions</a:t>
            </a:r>
          </a:p>
        </p:txBody>
      </p:sp>
      <p:sp>
        <p:nvSpPr>
          <p:cNvPr id="11" name="TextBox 10"/>
          <p:cNvSpPr txBox="1"/>
          <p:nvPr/>
        </p:nvSpPr>
        <p:spPr>
          <a:xfrm>
            <a:off x="4655210" y="3084068"/>
            <a:ext cx="2881274" cy="1700276"/>
          </a:xfrm>
          <a:prstGeom prst="rect">
            <a:avLst/>
          </a:prstGeom>
          <a:noFill/>
        </p:spPr>
        <p:txBody>
          <a:bodyPr wrap="square" anchor="t" lIns="0" rIns="0" tIns="0" bIns="0">
            <a:spAutoFit/>
          </a:bodyPr>
          <a:lstStyle/>
          <a:p>
            <a:pPr algn="l"/>
            <a:r>
              <a:rPr sz="1400" b="0" i="0">
                <a:solidFill>
                  <a:srgbClr val="666666"/>
                </a:solidFill>
                <a:latin typeface="Segoe UI"/>
              </a:rPr>
              <a:t>Symbolic links, file permissions, deeper directory trees, empty files, environment variables, related multi-file inputs, and pipes.</a:t>
            </a:r>
          </a:p>
        </p:txBody>
      </p:sp>
      <p:sp>
        <p:nvSpPr>
          <p:cNvPr id="12" name="Rounded Rectangle 11"/>
          <p:cNvSpPr/>
          <p:nvPr/>
        </p:nvSpPr>
        <p:spPr>
          <a:xfrm>
            <a:off x="8085124" y="2340864"/>
            <a:ext cx="3466490" cy="2571496"/>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8377732" y="2670048"/>
            <a:ext cx="2881274" cy="626871"/>
          </a:xfrm>
          <a:prstGeom prst="rect">
            <a:avLst/>
          </a:prstGeom>
          <a:noFill/>
        </p:spPr>
        <p:txBody>
          <a:bodyPr wrap="square" anchor="t" lIns="0" rIns="0" tIns="0" bIns="0">
            <a:spAutoFit/>
          </a:bodyPr>
          <a:lstStyle/>
          <a:p>
            <a:pPr algn="l"/>
            <a:r>
              <a:rPr sz="1700" b="1" i="0">
                <a:solidFill>
                  <a:srgbClr val="666666"/>
                </a:solidFill>
                <a:latin typeface="Segoe UI"/>
              </a:rPr>
              <a:t>Commands with poor documentation</a:t>
            </a:r>
          </a:p>
        </p:txBody>
      </p:sp>
      <p:sp>
        <p:nvSpPr>
          <p:cNvPr id="14" name="TextBox 13"/>
          <p:cNvSpPr txBox="1"/>
          <p:nvPr/>
        </p:nvSpPr>
        <p:spPr>
          <a:xfrm>
            <a:off x="8377732" y="3351784"/>
            <a:ext cx="2881274" cy="1432560"/>
          </a:xfrm>
          <a:prstGeom prst="rect">
            <a:avLst/>
          </a:prstGeom>
          <a:noFill/>
        </p:spPr>
        <p:txBody>
          <a:bodyPr wrap="square" anchor="t" lIns="0" rIns="0" tIns="0" bIns="0">
            <a:spAutoFit/>
          </a:bodyPr>
          <a:lstStyle/>
          <a:p>
            <a:pPr algn="l"/>
            <a:r>
              <a:rPr sz="1400" b="0" i="0">
                <a:solidFill>
                  <a:srgbClr val="666666"/>
                </a:solidFill>
                <a:latin typeface="Segoe UI"/>
              </a:rPr>
              <a:t>Where no useful manual page exists, inspect the program itself instead: its help text, its format, its structure.</a:t>
            </a:r>
          </a:p>
        </p:txBody>
      </p:sp>
      <p:sp>
        <p:nvSpPr>
          <p:cNvPr id="15" name="TextBox 14"/>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component_functionality, evaluation_gaps</a:t>
            </a:r>
          </a:p>
        </p:txBody>
      </p:sp>
      <p:sp>
        <p:nvSpPr>
          <p:cNvPr id="16" name="Rectangle 15"/>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8" name="TextBox 17"/>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11</a:t>
            </a:r>
          </a:p>
        </p:txBody>
      </p:sp>
      <p:sp>
        <p:nvSpPr>
          <p:cNvPr id="19" name="Rounded Rectangle 18"/>
          <p:cNvSpPr/>
          <p:nvPr/>
        </p:nvSpPr>
        <p:spPr>
          <a:xfrm>
            <a:off x="9018727" y="6400800"/>
            <a:ext cx="1481328" cy="237744"/>
          </a:xfrm>
          <a:prstGeom prst="roundRect">
            <a:avLst/>
          </a:prstGeom>
          <a:solidFill>
            <a:srgbClr val="FFFFFF"/>
          </a:solidFill>
          <a:ln w="952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666666"/>
                </a:solidFill>
                <a:latin typeface="Segoe UI"/>
              </a:rPr>
              <a:t>Step two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we are deliberately not doing</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411480"/>
          </a:xfrm>
          <a:prstGeom prst="rect">
            <a:avLst/>
          </a:prstGeom>
          <a:noFill/>
        </p:spPr>
        <p:txBody>
          <a:bodyPr wrap="square" anchor="t" lIns="0" rIns="0" tIns="0" bIns="0">
            <a:spAutoFit/>
          </a:bodyPr>
          <a:lstStyle/>
          <a:p>
            <a:pPr algn="l"/>
            <a:r>
              <a:rPr sz="1800" b="0" i="0">
                <a:solidFill>
                  <a:srgbClr val="666666"/>
                </a:solidFill>
                <a:latin typeface="Segoe UI"/>
              </a:rPr>
              <a:t>Scope discipline, stated plainly.</a:t>
            </a:r>
          </a:p>
        </p:txBody>
      </p:sp>
      <p:sp>
        <p:nvSpPr>
          <p:cNvPr id="5" name="Rounded Rectangle 4"/>
          <p:cNvSpPr/>
          <p:nvPr/>
        </p:nvSpPr>
        <p:spPr>
          <a:xfrm>
            <a:off x="640080" y="2011680"/>
            <a:ext cx="3466490" cy="2351023"/>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32688" y="2340864"/>
            <a:ext cx="2881274" cy="626871"/>
          </a:xfrm>
          <a:prstGeom prst="rect">
            <a:avLst/>
          </a:prstGeom>
          <a:noFill/>
        </p:spPr>
        <p:txBody>
          <a:bodyPr wrap="square" anchor="t" lIns="0" rIns="0" tIns="0" bIns="0">
            <a:spAutoFit/>
          </a:bodyPr>
          <a:lstStyle/>
          <a:p>
            <a:pPr algn="l"/>
            <a:r>
              <a:rPr sz="1700" b="1" i="0">
                <a:solidFill>
                  <a:srgbClr val="666666"/>
                </a:solidFill>
                <a:latin typeface="Segoe UI"/>
              </a:rPr>
              <a:t>Not rebuilding Caruca with AI agents</a:t>
            </a:r>
          </a:p>
        </p:txBody>
      </p:sp>
      <p:sp>
        <p:nvSpPr>
          <p:cNvPr id="7" name="TextBox 6"/>
          <p:cNvSpPr txBox="1"/>
          <p:nvPr/>
        </p:nvSpPr>
        <p:spPr>
          <a:xfrm>
            <a:off x="932688" y="3022600"/>
            <a:ext cx="2881274" cy="1212087"/>
          </a:xfrm>
          <a:prstGeom prst="rect">
            <a:avLst/>
          </a:prstGeom>
          <a:noFill/>
        </p:spPr>
        <p:txBody>
          <a:bodyPr wrap="square" anchor="t" lIns="0" rIns="0" tIns="0" bIns="0">
            <a:spAutoFit/>
          </a:bodyPr>
          <a:lstStyle/>
          <a:p>
            <a:pPr algn="l"/>
            <a:r>
              <a:rPr sz="1400" b="0" i="0">
                <a:solidFill>
                  <a:srgbClr val="666666"/>
                </a:solidFill>
                <a:latin typeface="Segoe UI"/>
              </a:rPr>
              <a:t>Replacing the whole pipeline with agent-driven reasoning is a separate, much larger experiment. Deferred until the simple comparison exists.</a:t>
            </a:r>
          </a:p>
        </p:txBody>
      </p:sp>
      <p:sp>
        <p:nvSpPr>
          <p:cNvPr id="8" name="Rounded Rectangle 7"/>
          <p:cNvSpPr/>
          <p:nvPr/>
        </p:nvSpPr>
        <p:spPr>
          <a:xfrm>
            <a:off x="4362602" y="2011680"/>
            <a:ext cx="3466490" cy="2351023"/>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4655210" y="2340864"/>
            <a:ext cx="2881274" cy="626871"/>
          </a:xfrm>
          <a:prstGeom prst="rect">
            <a:avLst/>
          </a:prstGeom>
          <a:noFill/>
        </p:spPr>
        <p:txBody>
          <a:bodyPr wrap="square" anchor="t" lIns="0" rIns="0" tIns="0" bIns="0">
            <a:spAutoFit/>
          </a:bodyPr>
          <a:lstStyle/>
          <a:p>
            <a:pPr algn="l"/>
            <a:r>
              <a:rPr sz="1700" b="1" i="0">
                <a:solidFill>
                  <a:srgbClr val="666666"/>
                </a:solidFill>
                <a:latin typeface="Segoe UI"/>
              </a:rPr>
              <a:t>Not tuning the prompt to win</a:t>
            </a:r>
          </a:p>
        </p:txBody>
      </p:sp>
      <p:sp>
        <p:nvSpPr>
          <p:cNvPr id="10" name="TextBox 9"/>
          <p:cNvSpPr txBox="1"/>
          <p:nvPr/>
        </p:nvSpPr>
        <p:spPr>
          <a:xfrm>
            <a:off x="4655210" y="3022600"/>
            <a:ext cx="2881274" cy="1212087"/>
          </a:xfrm>
          <a:prstGeom prst="rect">
            <a:avLst/>
          </a:prstGeom>
          <a:noFill/>
        </p:spPr>
        <p:txBody>
          <a:bodyPr wrap="square" anchor="t" lIns="0" rIns="0" tIns="0" bIns="0">
            <a:spAutoFit/>
          </a:bodyPr>
          <a:lstStyle/>
          <a:p>
            <a:pPr algn="l"/>
            <a:r>
              <a:rPr sz="1400" b="0" i="0">
                <a:solidFill>
                  <a:srgbClr val="666666"/>
                </a:solidFill>
                <a:latin typeface="Segoe UI"/>
              </a:rPr>
              <a:t>The first version stays plain on purpose. Optimising it is a different experiment and would confound this one.</a:t>
            </a:r>
          </a:p>
        </p:txBody>
      </p:sp>
      <p:sp>
        <p:nvSpPr>
          <p:cNvPr id="11" name="Rounded Rectangle 10"/>
          <p:cNvSpPr/>
          <p:nvPr/>
        </p:nvSpPr>
        <p:spPr>
          <a:xfrm>
            <a:off x="8085124" y="2011680"/>
            <a:ext cx="3466490" cy="2351023"/>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8377732" y="2340864"/>
            <a:ext cx="2881274" cy="626871"/>
          </a:xfrm>
          <a:prstGeom prst="rect">
            <a:avLst/>
          </a:prstGeom>
          <a:noFill/>
        </p:spPr>
        <p:txBody>
          <a:bodyPr wrap="square" anchor="t" lIns="0" rIns="0" tIns="0" bIns="0">
            <a:spAutoFit/>
          </a:bodyPr>
          <a:lstStyle/>
          <a:p>
            <a:pPr algn="l"/>
            <a:r>
              <a:rPr sz="1700" b="1" i="0">
                <a:solidFill>
                  <a:srgbClr val="666666"/>
                </a:solidFill>
                <a:latin typeface="Segoe UI"/>
              </a:rPr>
              <a:t>Not rewriting Caruca's own code</a:t>
            </a:r>
          </a:p>
        </p:txBody>
      </p:sp>
      <p:sp>
        <p:nvSpPr>
          <p:cNvPr id="13" name="TextBox 12"/>
          <p:cNvSpPr txBox="1"/>
          <p:nvPr/>
        </p:nvSpPr>
        <p:spPr>
          <a:xfrm>
            <a:off x="8377732" y="3022600"/>
            <a:ext cx="2881274" cy="1212087"/>
          </a:xfrm>
          <a:prstGeom prst="rect">
            <a:avLst/>
          </a:prstGeom>
          <a:noFill/>
        </p:spPr>
        <p:txBody>
          <a:bodyPr wrap="square" anchor="t" lIns="0" rIns="0" tIns="0" bIns="0">
            <a:spAutoFit/>
          </a:bodyPr>
          <a:lstStyle/>
          <a:p>
            <a:pPr algn="l"/>
            <a:r>
              <a:rPr sz="1400" b="0" i="0">
                <a:solidFill>
                  <a:srgbClr val="666666"/>
                </a:solidFill>
                <a:latin typeface="Segoe UI"/>
              </a:rPr>
              <a:t>Its sandbox, its annotator, its verified answers and its comparison script are reused as they are. One small repair is the only change.</a:t>
            </a:r>
          </a:p>
        </p:txBody>
      </p:sp>
      <p:sp>
        <p:nvSpPr>
          <p:cNvPr id="14" name="TextBox 13"/>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master_idea</a:t>
            </a:r>
          </a:p>
        </p:txBody>
      </p:sp>
      <p:sp>
        <p:nvSpPr>
          <p:cNvPr id="15" name="Rectangle 14"/>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7" name="TextBox 16"/>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gets built first</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411480"/>
          </a:xfrm>
          <a:prstGeom prst="rect">
            <a:avLst/>
          </a:prstGeom>
          <a:noFill/>
        </p:spPr>
        <p:txBody>
          <a:bodyPr wrap="square" anchor="t" lIns="0" rIns="0" tIns="0" bIns="0">
            <a:spAutoFit/>
          </a:bodyPr>
          <a:lstStyle/>
          <a:p>
            <a:pPr algn="l"/>
            <a:r>
              <a:rPr sz="1800" b="0" i="0">
                <a:solidFill>
                  <a:srgbClr val="666666"/>
                </a:solidFill>
                <a:latin typeface="Segoe UI"/>
              </a:rPr>
              <a:t>Three tasks. None of them needs the sandbox or any undecided technology.</a:t>
            </a:r>
          </a:p>
        </p:txBody>
      </p:sp>
      <p:sp>
        <p:nvSpPr>
          <p:cNvPr id="5" name="Rounded Rectangle 4"/>
          <p:cNvSpPr/>
          <p:nvPr/>
        </p:nvSpPr>
        <p:spPr>
          <a:xfrm>
            <a:off x="640080" y="2011680"/>
            <a:ext cx="3466490" cy="2927095"/>
          </a:xfrm>
          <a:prstGeom prst="roundRect">
            <a:avLst/>
          </a:prstGeom>
          <a:solidFill>
            <a:srgbClr val="EAF0F8"/>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Oval 5"/>
          <p:cNvSpPr/>
          <p:nvPr/>
        </p:nvSpPr>
        <p:spPr>
          <a:xfrm>
            <a:off x="932688" y="2340864"/>
            <a:ext cx="402336" cy="402336"/>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i="0">
                <a:solidFill>
                  <a:srgbClr val="FFFFFF"/>
                </a:solidFill>
                <a:latin typeface="Segoe UI"/>
              </a:rPr>
              <a:t>1</a:t>
            </a:r>
          </a:p>
        </p:txBody>
      </p:sp>
      <p:sp>
        <p:nvSpPr>
          <p:cNvPr id="7" name="TextBox 6"/>
          <p:cNvSpPr txBox="1"/>
          <p:nvPr/>
        </p:nvSpPr>
        <p:spPr>
          <a:xfrm>
            <a:off x="932688" y="2916936"/>
            <a:ext cx="2881274" cy="626871"/>
          </a:xfrm>
          <a:prstGeom prst="rect">
            <a:avLst/>
          </a:prstGeom>
          <a:noFill/>
        </p:spPr>
        <p:txBody>
          <a:bodyPr wrap="square" anchor="t" lIns="0" rIns="0" tIns="0" bIns="0">
            <a:spAutoFit/>
          </a:bodyPr>
          <a:lstStyle/>
          <a:p>
            <a:pPr algn="l"/>
            <a:r>
              <a:rPr sz="1700" b="1" i="0">
                <a:solidFill>
                  <a:srgbClr val="333333"/>
                </a:solidFill>
                <a:latin typeface="Segoe UI"/>
              </a:rPr>
              <a:t>Repair and measure the existing AI step</a:t>
            </a:r>
          </a:p>
        </p:txBody>
      </p:sp>
      <p:sp>
        <p:nvSpPr>
          <p:cNvPr id="8" name="TextBox 7"/>
          <p:cNvSpPr txBox="1"/>
          <p:nvPr/>
        </p:nvSpPr>
        <p:spPr>
          <a:xfrm>
            <a:off x="932688" y="3598672"/>
            <a:ext cx="2881274" cy="1212087"/>
          </a:xfrm>
          <a:prstGeom prst="rect">
            <a:avLst/>
          </a:prstGeom>
          <a:noFill/>
        </p:spPr>
        <p:txBody>
          <a:bodyPr wrap="square" anchor="t" lIns="0" rIns="0" tIns="0" bIns="0">
            <a:spAutoFit/>
          </a:bodyPr>
          <a:lstStyle/>
          <a:p>
            <a:pPr algn="l"/>
            <a:r>
              <a:rPr sz="1400" b="0" i="0">
                <a:solidFill>
                  <a:srgbClr val="666666"/>
                </a:solidFill>
                <a:latin typeface="Segoe UI"/>
              </a:rPr>
              <a:t>Fix the library problem, then record tokens, cost, time and model for every run. Produces a cost figure that does not exist today.</a:t>
            </a:r>
          </a:p>
        </p:txBody>
      </p:sp>
      <p:sp>
        <p:nvSpPr>
          <p:cNvPr id="9" name="Rounded Rectangle 8"/>
          <p:cNvSpPr/>
          <p:nvPr/>
        </p:nvSpPr>
        <p:spPr>
          <a:xfrm>
            <a:off x="4362602" y="2011680"/>
            <a:ext cx="3466490" cy="2927095"/>
          </a:xfrm>
          <a:prstGeom prst="roundRect">
            <a:avLst/>
          </a:prstGeom>
          <a:solidFill>
            <a:srgbClr val="EAF0F8"/>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Oval 9"/>
          <p:cNvSpPr/>
          <p:nvPr/>
        </p:nvSpPr>
        <p:spPr>
          <a:xfrm>
            <a:off x="4655210" y="2340864"/>
            <a:ext cx="402336" cy="402336"/>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i="0">
                <a:solidFill>
                  <a:srgbClr val="FFFFFF"/>
                </a:solidFill>
                <a:latin typeface="Segoe UI"/>
              </a:rPr>
              <a:t>2</a:t>
            </a:r>
          </a:p>
        </p:txBody>
      </p:sp>
      <p:sp>
        <p:nvSpPr>
          <p:cNvPr id="11" name="TextBox 10"/>
          <p:cNvSpPr txBox="1"/>
          <p:nvPr/>
        </p:nvSpPr>
        <p:spPr>
          <a:xfrm>
            <a:off x="4655210" y="2916936"/>
            <a:ext cx="2881274" cy="626871"/>
          </a:xfrm>
          <a:prstGeom prst="rect">
            <a:avLst/>
          </a:prstGeom>
          <a:noFill/>
        </p:spPr>
        <p:txBody>
          <a:bodyPr wrap="square" anchor="t" lIns="0" rIns="0" tIns="0" bIns="0">
            <a:spAutoFit/>
          </a:bodyPr>
          <a:lstStyle/>
          <a:p>
            <a:pPr algn="l"/>
            <a:r>
              <a:rPr sz="1700" b="1" i="0">
                <a:solidFill>
                  <a:srgbClr val="333333"/>
                </a:solidFill>
                <a:latin typeface="Segoe UI"/>
              </a:rPr>
              <a:t>Build the simple prompt version</a:t>
            </a:r>
          </a:p>
        </p:txBody>
      </p:sp>
      <p:sp>
        <p:nvSpPr>
          <p:cNvPr id="12" name="TextBox 11"/>
          <p:cNvSpPr txBox="1"/>
          <p:nvPr/>
        </p:nvSpPr>
        <p:spPr>
          <a:xfrm>
            <a:off x="4655210" y="3598672"/>
            <a:ext cx="2881274" cy="1212087"/>
          </a:xfrm>
          <a:prstGeom prst="rect">
            <a:avLst/>
          </a:prstGeom>
          <a:noFill/>
        </p:spPr>
        <p:txBody>
          <a:bodyPr wrap="square" anchor="t" lIns="0" rIns="0" tIns="0" bIns="0">
            <a:spAutoFit/>
          </a:bodyPr>
          <a:lstStyle/>
          <a:p>
            <a:pPr algn="l"/>
            <a:r>
              <a:rPr sz="1400" b="0" i="0">
                <a:solidFill>
                  <a:srgbClr val="666666"/>
                </a:solidFill>
                <a:latin typeface="Segoe UI"/>
              </a:rPr>
              <a:t>One prompt, manual page in, description out, in the same format Caruca already uses so the existing comparison tools work unchanged.</a:t>
            </a:r>
          </a:p>
        </p:txBody>
      </p:sp>
      <p:sp>
        <p:nvSpPr>
          <p:cNvPr id="13" name="Rounded Rectangle 12"/>
          <p:cNvSpPr/>
          <p:nvPr/>
        </p:nvSpPr>
        <p:spPr>
          <a:xfrm>
            <a:off x="8085124" y="2011680"/>
            <a:ext cx="3466490" cy="2927095"/>
          </a:xfrm>
          <a:prstGeom prst="roundRect">
            <a:avLst/>
          </a:prstGeom>
          <a:solidFill>
            <a:srgbClr val="EAF0F8"/>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Oval 13"/>
          <p:cNvSpPr/>
          <p:nvPr/>
        </p:nvSpPr>
        <p:spPr>
          <a:xfrm>
            <a:off x="8377732" y="2340864"/>
            <a:ext cx="402336" cy="402336"/>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i="0">
                <a:solidFill>
                  <a:srgbClr val="FFFFFF"/>
                </a:solidFill>
                <a:latin typeface="Segoe UI"/>
              </a:rPr>
              <a:t>3</a:t>
            </a:r>
          </a:p>
        </p:txBody>
      </p:sp>
      <p:sp>
        <p:nvSpPr>
          <p:cNvPr id="15" name="TextBox 14"/>
          <p:cNvSpPr txBox="1"/>
          <p:nvPr/>
        </p:nvSpPr>
        <p:spPr>
          <a:xfrm>
            <a:off x="8377732" y="2916936"/>
            <a:ext cx="2881274" cy="626871"/>
          </a:xfrm>
          <a:prstGeom prst="rect">
            <a:avLst/>
          </a:prstGeom>
          <a:noFill/>
        </p:spPr>
        <p:txBody>
          <a:bodyPr wrap="square" anchor="t" lIns="0" rIns="0" tIns="0" bIns="0">
            <a:spAutoFit/>
          </a:bodyPr>
          <a:lstStyle/>
          <a:p>
            <a:pPr algn="l"/>
            <a:r>
              <a:rPr sz="1700" b="1" i="0">
                <a:solidFill>
                  <a:srgbClr val="333333"/>
                </a:solidFill>
                <a:latin typeface="Segoe UI"/>
              </a:rPr>
              <a:t>Compare them head to head</a:t>
            </a:r>
          </a:p>
        </p:txBody>
      </p:sp>
      <p:sp>
        <p:nvSpPr>
          <p:cNvPr id="16" name="TextBox 15"/>
          <p:cNvSpPr txBox="1"/>
          <p:nvPr/>
        </p:nvSpPr>
        <p:spPr>
          <a:xfrm>
            <a:off x="8377732" y="3598672"/>
            <a:ext cx="2881274" cy="1212087"/>
          </a:xfrm>
          <a:prstGeom prst="rect">
            <a:avLst/>
          </a:prstGeom>
          <a:noFill/>
        </p:spPr>
        <p:txBody>
          <a:bodyPr wrap="square" anchor="t" lIns="0" rIns="0" tIns="0" bIns="0">
            <a:spAutoFit/>
          </a:bodyPr>
          <a:lstStyle/>
          <a:p>
            <a:pPr algn="l"/>
            <a:r>
              <a:rPr sz="1400" b="0" i="0">
                <a:solidFill>
                  <a:srgbClr val="666666"/>
                </a:solidFill>
                <a:latin typeface="Segoe UI"/>
              </a:rPr>
              <a:t>Against the verified answers already in the repository, with repeat runs to measure consistency and a summary that can go straight into a paper.</a:t>
            </a:r>
          </a:p>
        </p:txBody>
      </p:sp>
      <p:sp>
        <p:nvSpPr>
          <p:cNvPr id="17" name="TextBox 16"/>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roadmap</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13</a:t>
            </a:r>
          </a:p>
        </p:txBody>
      </p:sp>
      <p:sp>
        <p:nvSpPr>
          <p:cNvPr id="21" name="Rounded Rectangle 20"/>
          <p:cNvSpPr/>
          <p:nvPr/>
        </p:nvSpPr>
        <p:spPr>
          <a:xfrm>
            <a:off x="9018727" y="6400800"/>
            <a:ext cx="1481328" cy="237744"/>
          </a:xfrm>
          <a:prstGeom prst="roundRect">
            <a:avLst/>
          </a:prstGeom>
          <a:solidFill>
            <a:srgbClr val="EAF0F8"/>
          </a:solidFill>
          <a:ln w="9525">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4A6FA5"/>
                </a:solidFill>
                <a:latin typeface="Segoe UI"/>
              </a:rPr>
              <a:t>Step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How we will know if it worked</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545775" cy="351282"/>
          </a:xfrm>
          <a:prstGeom prst="rect">
            <a:avLst/>
          </a:prstGeom>
          <a:noFill/>
        </p:spPr>
        <p:txBody>
          <a:bodyPr wrap="square" anchor="t" lIns="0" rIns="0" tIns="0" bIns="0">
            <a:spAutoFit/>
          </a:bodyPr>
          <a:lstStyle/>
          <a:p>
            <a:pPr algn="l"/>
            <a:r>
              <a:rPr sz="1650" b="0" i="0">
                <a:solidFill>
                  <a:srgbClr val="666666"/>
                </a:solidFill>
                <a:latin typeface="Segoe UI"/>
              </a:rPr>
              <a:t>Six measures. The first four decide whether the approach is viable at all.</a:t>
            </a:r>
          </a:p>
        </p:txBody>
      </p:sp>
      <p:sp>
        <p:nvSpPr>
          <p:cNvPr id="5" name="Oval 4"/>
          <p:cNvSpPr/>
          <p:nvPr/>
        </p:nvSpPr>
        <p:spPr>
          <a:xfrm>
            <a:off x="667512" y="209118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50976" y="2015490"/>
            <a:ext cx="10600639" cy="343408"/>
          </a:xfrm>
          <a:prstGeom prst="rect">
            <a:avLst/>
          </a:prstGeom>
          <a:noFill/>
        </p:spPr>
        <p:txBody>
          <a:bodyPr wrap="square" anchor="t" lIns="0" rIns="0" tIns="0" bIns="0">
            <a:spAutoFit/>
          </a:bodyPr>
          <a:lstStyle/>
          <a:p>
            <a:pPr algn="l"/>
            <a:r>
              <a:rPr sz="1600" b="1" i="0">
                <a:solidFill>
                  <a:srgbClr val="333333"/>
                </a:solidFill>
                <a:latin typeface="Segoe UI"/>
              </a:rPr>
              <a:t>Correctness — does it produce the same descriptions?</a:t>
            </a:r>
          </a:p>
        </p:txBody>
      </p:sp>
      <p:sp>
        <p:nvSpPr>
          <p:cNvPr id="7" name="TextBox 6"/>
          <p:cNvSpPr txBox="1"/>
          <p:nvPr/>
        </p:nvSpPr>
        <p:spPr>
          <a:xfrm>
            <a:off x="950976" y="2358898"/>
            <a:ext cx="10088575" cy="304038"/>
          </a:xfrm>
          <a:prstGeom prst="rect">
            <a:avLst/>
          </a:prstGeom>
          <a:noFill/>
        </p:spPr>
        <p:txBody>
          <a:bodyPr wrap="square" anchor="t" lIns="0" rIns="0" tIns="0" bIns="0">
            <a:spAutoFit/>
          </a:bodyPr>
          <a:lstStyle/>
          <a:p>
            <a:pPr algn="l"/>
            <a:r>
              <a:rPr sz="1350" b="0" i="0">
                <a:solidFill>
                  <a:srgbClr val="666666"/>
                </a:solidFill>
                <a:latin typeface="Segoe UI"/>
              </a:rPr>
              <a:t>Compared against verified answers already in the repository, using Caruca's own method.</a:t>
            </a:r>
          </a:p>
        </p:txBody>
      </p:sp>
      <p:sp>
        <p:nvSpPr>
          <p:cNvPr id="8" name="Oval 7"/>
          <p:cNvSpPr/>
          <p:nvPr/>
        </p:nvSpPr>
        <p:spPr>
          <a:xfrm>
            <a:off x="667512" y="278434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50976" y="2708656"/>
            <a:ext cx="10600639" cy="343408"/>
          </a:xfrm>
          <a:prstGeom prst="rect">
            <a:avLst/>
          </a:prstGeom>
          <a:noFill/>
        </p:spPr>
        <p:txBody>
          <a:bodyPr wrap="square" anchor="t" lIns="0" rIns="0" tIns="0" bIns="0">
            <a:spAutoFit/>
          </a:bodyPr>
          <a:lstStyle/>
          <a:p>
            <a:pPr algn="l"/>
            <a:r>
              <a:rPr sz="1600" b="1" i="0">
                <a:solidFill>
                  <a:srgbClr val="333333"/>
                </a:solidFill>
                <a:latin typeface="Segoe UI"/>
              </a:rPr>
              <a:t>Cost and speed — what does each approach cost per command?</a:t>
            </a:r>
          </a:p>
        </p:txBody>
      </p:sp>
      <p:sp>
        <p:nvSpPr>
          <p:cNvPr id="10" name="TextBox 9"/>
          <p:cNvSpPr txBox="1"/>
          <p:nvPr/>
        </p:nvSpPr>
        <p:spPr>
          <a:xfrm>
            <a:off x="950976" y="3052064"/>
            <a:ext cx="10088575" cy="304038"/>
          </a:xfrm>
          <a:prstGeom prst="rect">
            <a:avLst/>
          </a:prstGeom>
          <a:noFill/>
        </p:spPr>
        <p:txBody>
          <a:bodyPr wrap="square" anchor="t" lIns="0" rIns="0" tIns="0" bIns="0">
            <a:spAutoFit/>
          </a:bodyPr>
          <a:lstStyle/>
          <a:p>
            <a:pPr algn="l"/>
            <a:r>
              <a:rPr sz="1350" b="0" i="0">
                <a:solidFill>
                  <a:srgbClr val="666666"/>
                </a:solidFill>
                <a:latin typeface="Segoe UI"/>
              </a:rPr>
              <a:t>Tokens, money and time, recorded for both.</a:t>
            </a:r>
          </a:p>
        </p:txBody>
      </p:sp>
      <p:sp>
        <p:nvSpPr>
          <p:cNvPr id="11" name="Oval 10"/>
          <p:cNvSpPr/>
          <p:nvPr/>
        </p:nvSpPr>
        <p:spPr>
          <a:xfrm>
            <a:off x="667512" y="347751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950976" y="3401822"/>
            <a:ext cx="10600639" cy="343408"/>
          </a:xfrm>
          <a:prstGeom prst="rect">
            <a:avLst/>
          </a:prstGeom>
          <a:noFill/>
        </p:spPr>
        <p:txBody>
          <a:bodyPr wrap="square" anchor="t" lIns="0" rIns="0" tIns="0" bIns="0">
            <a:spAutoFit/>
          </a:bodyPr>
          <a:lstStyle/>
          <a:p>
            <a:pPr algn="l"/>
            <a:r>
              <a:rPr sz="1600" b="1" i="0">
                <a:solidFill>
                  <a:srgbClr val="333333"/>
                </a:solidFill>
                <a:latin typeface="Segoe UI"/>
              </a:rPr>
              <a:t>Coverage — how many commands and behaviours are handled?</a:t>
            </a:r>
          </a:p>
        </p:txBody>
      </p:sp>
      <p:sp>
        <p:nvSpPr>
          <p:cNvPr id="13" name="TextBox 12"/>
          <p:cNvSpPr txBox="1"/>
          <p:nvPr/>
        </p:nvSpPr>
        <p:spPr>
          <a:xfrm>
            <a:off x="950976" y="3745230"/>
            <a:ext cx="10088575" cy="304038"/>
          </a:xfrm>
          <a:prstGeom prst="rect">
            <a:avLst/>
          </a:prstGeom>
          <a:noFill/>
        </p:spPr>
        <p:txBody>
          <a:bodyPr wrap="square" anchor="t" lIns="0" rIns="0" tIns="0" bIns="0">
            <a:spAutoFit/>
          </a:bodyPr>
          <a:lstStyle/>
          <a:p>
            <a:pPr algn="l"/>
            <a:r>
              <a:rPr sz="1350" b="0" i="0">
                <a:solidFill>
                  <a:srgbClr val="666666"/>
                </a:solidFill>
                <a:latin typeface="Segoe UI"/>
              </a:rPr>
              <a:t>Including how far step two eventually reaches beyond today's limits.</a:t>
            </a:r>
          </a:p>
        </p:txBody>
      </p:sp>
      <p:sp>
        <p:nvSpPr>
          <p:cNvPr id="14" name="Oval 13"/>
          <p:cNvSpPr/>
          <p:nvPr/>
        </p:nvSpPr>
        <p:spPr>
          <a:xfrm>
            <a:off x="667512" y="417068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950976" y="4094988"/>
            <a:ext cx="10600639" cy="343408"/>
          </a:xfrm>
          <a:prstGeom prst="rect">
            <a:avLst/>
          </a:prstGeom>
          <a:noFill/>
        </p:spPr>
        <p:txBody>
          <a:bodyPr wrap="square" anchor="t" lIns="0" rIns="0" tIns="0" bIns="0">
            <a:spAutoFit/>
          </a:bodyPr>
          <a:lstStyle/>
          <a:p>
            <a:pPr algn="l"/>
            <a:r>
              <a:rPr sz="1600" b="1" i="0">
                <a:solidFill>
                  <a:srgbClr val="333333"/>
                </a:solidFill>
                <a:latin typeface="Segoe UI"/>
              </a:rPr>
              <a:t>Consistency — do repeated runs agree?</a:t>
            </a:r>
          </a:p>
        </p:txBody>
      </p:sp>
      <p:sp>
        <p:nvSpPr>
          <p:cNvPr id="16" name="TextBox 15"/>
          <p:cNvSpPr txBox="1"/>
          <p:nvPr/>
        </p:nvSpPr>
        <p:spPr>
          <a:xfrm>
            <a:off x="950976" y="4438396"/>
            <a:ext cx="10088575" cy="304038"/>
          </a:xfrm>
          <a:prstGeom prst="rect">
            <a:avLst/>
          </a:prstGeom>
          <a:noFill/>
        </p:spPr>
        <p:txBody>
          <a:bodyPr wrap="square" anchor="t" lIns="0" rIns="0" tIns="0" bIns="0">
            <a:spAutoFit/>
          </a:bodyPr>
          <a:lstStyle/>
          <a:p>
            <a:pPr algn="l"/>
            <a:r>
              <a:rPr sz="1350" b="0" i="0">
                <a:solidFill>
                  <a:srgbClr val="666666"/>
                </a:solidFill>
                <a:latin typeface="Segoe UI"/>
              </a:rPr>
              <a:t>Reported as a spread, not a single number.</a:t>
            </a:r>
          </a:p>
        </p:txBody>
      </p:sp>
      <p:sp>
        <p:nvSpPr>
          <p:cNvPr id="17" name="Oval 16"/>
          <p:cNvSpPr/>
          <p:nvPr/>
        </p:nvSpPr>
        <p:spPr>
          <a:xfrm>
            <a:off x="667512" y="486384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950976" y="4788154"/>
            <a:ext cx="10600639" cy="343408"/>
          </a:xfrm>
          <a:prstGeom prst="rect">
            <a:avLst/>
          </a:prstGeom>
          <a:noFill/>
        </p:spPr>
        <p:txBody>
          <a:bodyPr wrap="square" anchor="t" lIns="0" rIns="0" tIns="0" bIns="0">
            <a:spAutoFit/>
          </a:bodyPr>
          <a:lstStyle/>
          <a:p>
            <a:pPr algn="l"/>
            <a:r>
              <a:rPr sz="1600" b="0" i="0">
                <a:solidFill>
                  <a:srgbClr val="333333"/>
                </a:solidFill>
                <a:latin typeface="Segoe UI"/>
              </a:rPr>
              <a:t>Overall change — one headline figure per measure above</a:t>
            </a:r>
          </a:p>
        </p:txBody>
      </p:sp>
      <p:sp>
        <p:nvSpPr>
          <p:cNvPr id="19" name="Oval 18"/>
          <p:cNvSpPr/>
          <p:nvPr/>
        </p:nvSpPr>
        <p:spPr>
          <a:xfrm>
            <a:off x="667512" y="530783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950976" y="5232146"/>
            <a:ext cx="10600639" cy="343408"/>
          </a:xfrm>
          <a:prstGeom prst="rect">
            <a:avLst/>
          </a:prstGeom>
          <a:noFill/>
        </p:spPr>
        <p:txBody>
          <a:bodyPr wrap="square" anchor="t" lIns="0" rIns="0" tIns="0" bIns="0">
            <a:spAutoFit/>
          </a:bodyPr>
          <a:lstStyle/>
          <a:p>
            <a:pPr algn="l"/>
            <a:r>
              <a:rPr sz="1600" b="1" i="0">
                <a:solidFill>
                  <a:srgbClr val="333333"/>
                </a:solidFill>
                <a:latin typeface="Segoe UI"/>
              </a:rPr>
              <a:t>Hand-written code replaced — with an important caveat</a:t>
            </a:r>
          </a:p>
        </p:txBody>
      </p:sp>
      <p:sp>
        <p:nvSpPr>
          <p:cNvPr id="21" name="TextBox 20"/>
          <p:cNvSpPr txBox="1"/>
          <p:nvPr/>
        </p:nvSpPr>
        <p:spPr>
          <a:xfrm>
            <a:off x="950976" y="5575554"/>
            <a:ext cx="10088575" cy="304038"/>
          </a:xfrm>
          <a:prstGeom prst="rect">
            <a:avLst/>
          </a:prstGeom>
          <a:noFill/>
        </p:spPr>
        <p:txBody>
          <a:bodyPr wrap="square" anchor="t" lIns="0" rIns="0" tIns="0" bIns="0">
            <a:spAutoFit/>
          </a:bodyPr>
          <a:lstStyle/>
          <a:p>
            <a:pPr algn="l"/>
            <a:r>
              <a:rPr sz="1350" b="0" i="0">
                <a:solidFill>
                  <a:srgbClr val="666666"/>
                </a:solidFill>
                <a:latin typeface="Segoe UI"/>
              </a:rPr>
              <a:t>Mostly not measurable in step one, since we replace one step and reuse the rest. See appendix.</a:t>
            </a:r>
          </a:p>
        </p:txBody>
      </p:sp>
      <p:sp>
        <p:nvSpPr>
          <p:cNvPr id="22" name="TextBox 21"/>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master_idea, data_telemetry_schema</a:t>
            </a:r>
          </a:p>
        </p:txBody>
      </p:sp>
      <p:sp>
        <p:nvSpPr>
          <p:cNvPr id="23" name="Rectangle 22"/>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5" name="TextBox 24"/>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DETAIL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we reuse from Caruca, unchanged</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351282"/>
          </a:xfrm>
          <a:prstGeom prst="rect">
            <a:avLst/>
          </a:prstGeom>
          <a:noFill/>
        </p:spPr>
        <p:txBody>
          <a:bodyPr wrap="square" anchor="t" lIns="0" rIns="0" tIns="0" bIns="0">
            <a:spAutoFit/>
          </a:bodyPr>
          <a:lstStyle/>
          <a:p>
            <a:pPr algn="l"/>
            <a:r>
              <a:rPr sz="1650" b="0" i="0">
                <a:solidFill>
                  <a:srgbClr val="666666"/>
                </a:solidFill>
                <a:latin typeface="Segoe UI"/>
              </a:rPr>
              <a:t>The new work attaches at existing seams rather than replacing anything.</a:t>
            </a:r>
          </a:p>
        </p:txBody>
      </p:sp>
      <p:sp>
        <p:nvSpPr>
          <p:cNvPr id="6" name="Oval 5"/>
          <p:cNvSpPr/>
          <p:nvPr/>
        </p:nvSpPr>
        <p:spPr>
          <a:xfrm>
            <a:off x="667512" y="242036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344674"/>
            <a:ext cx="10600639" cy="343408"/>
          </a:xfrm>
          <a:prstGeom prst="rect">
            <a:avLst/>
          </a:prstGeom>
          <a:noFill/>
        </p:spPr>
        <p:txBody>
          <a:bodyPr wrap="square" anchor="t" lIns="0" rIns="0" tIns="0" bIns="0">
            <a:spAutoFit/>
          </a:bodyPr>
          <a:lstStyle/>
          <a:p>
            <a:pPr algn="l"/>
            <a:r>
              <a:rPr sz="1600" b="1" i="0">
                <a:solidFill>
                  <a:srgbClr val="333333"/>
                </a:solidFill>
                <a:latin typeface="Segoe UI"/>
              </a:rPr>
              <a:t>The boundary between running and interpreting stays as it is</a:t>
            </a:r>
          </a:p>
        </p:txBody>
      </p:sp>
      <p:sp>
        <p:nvSpPr>
          <p:cNvPr id="8" name="TextBox 7"/>
          <p:cNvSpPr txBox="1"/>
          <p:nvPr/>
        </p:nvSpPr>
        <p:spPr>
          <a:xfrm>
            <a:off x="950976" y="2688082"/>
            <a:ext cx="10088575" cy="516635"/>
          </a:xfrm>
          <a:prstGeom prst="rect">
            <a:avLst/>
          </a:prstGeom>
          <a:noFill/>
        </p:spPr>
        <p:txBody>
          <a:bodyPr wrap="square" anchor="t" lIns="0" rIns="0" tIns="0" bIns="0">
            <a:spAutoFit/>
          </a:bodyPr>
          <a:lstStyle/>
          <a:p>
            <a:pPr algn="l"/>
            <a:r>
              <a:rPr sz="1350" b="0" i="0">
                <a:solidFill>
                  <a:srgbClr val="666666"/>
                </a:solidFill>
                <a:latin typeface="Segoe UI"/>
              </a:rPr>
              <a:t>Recorded behaviour is written to a file, so running can happen on a capable host while interpretation happens anywhere. We keep that seam and attach to it.</a:t>
            </a:r>
          </a:p>
        </p:txBody>
      </p:sp>
      <p:sp>
        <p:nvSpPr>
          <p:cNvPr id="9" name="Oval 8"/>
          <p:cNvSpPr/>
          <p:nvPr/>
        </p:nvSpPr>
        <p:spPr>
          <a:xfrm>
            <a:off x="667512" y="3326129"/>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250438"/>
            <a:ext cx="10600639" cy="343408"/>
          </a:xfrm>
          <a:prstGeom prst="rect">
            <a:avLst/>
          </a:prstGeom>
          <a:noFill/>
        </p:spPr>
        <p:txBody>
          <a:bodyPr wrap="square" anchor="t" lIns="0" rIns="0" tIns="0" bIns="0">
            <a:spAutoFit/>
          </a:bodyPr>
          <a:lstStyle/>
          <a:p>
            <a:pPr algn="l"/>
            <a:r>
              <a:rPr sz="1600" b="1" i="0">
                <a:solidFill>
                  <a:srgbClr val="333333"/>
                </a:solidFill>
                <a:latin typeface="Segoe UI"/>
              </a:rPr>
              <a:t>The annotator is reused as-is</a:t>
            </a:r>
          </a:p>
        </p:txBody>
      </p:sp>
      <p:sp>
        <p:nvSpPr>
          <p:cNvPr id="11" name="TextBox 10"/>
          <p:cNvSpPr txBox="1"/>
          <p:nvPr/>
        </p:nvSpPr>
        <p:spPr>
          <a:xfrm>
            <a:off x="950976" y="3593846"/>
            <a:ext cx="10088575" cy="516635"/>
          </a:xfrm>
          <a:prstGeom prst="rect">
            <a:avLst/>
          </a:prstGeom>
          <a:noFill/>
        </p:spPr>
        <p:txBody>
          <a:bodyPr wrap="square" anchor="t" lIns="0" rIns="0" tIns="0" bIns="0">
            <a:spAutoFit/>
          </a:bodyPr>
          <a:lstStyle/>
          <a:p>
            <a:pPr algn="l"/>
            <a:r>
              <a:rPr sz="1350" b="0" i="0">
                <a:solidFill>
                  <a:srgbClr val="666666"/>
                </a:solidFill>
                <a:latin typeface="Segoe UI"/>
              </a:rPr>
              <a:t>Step one does not touch it. Step two would need new interaction types for links and permissions, which is scoped but not started.</a:t>
            </a:r>
          </a:p>
        </p:txBody>
      </p:sp>
      <p:sp>
        <p:nvSpPr>
          <p:cNvPr id="12" name="Oval 11"/>
          <p:cNvSpPr/>
          <p:nvPr/>
        </p:nvSpPr>
        <p:spPr>
          <a:xfrm>
            <a:off x="667512" y="423189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156202"/>
            <a:ext cx="10600639" cy="343408"/>
          </a:xfrm>
          <a:prstGeom prst="rect">
            <a:avLst/>
          </a:prstGeom>
          <a:noFill/>
        </p:spPr>
        <p:txBody>
          <a:bodyPr wrap="square" anchor="t" lIns="0" rIns="0" tIns="0" bIns="0">
            <a:spAutoFit/>
          </a:bodyPr>
          <a:lstStyle/>
          <a:p>
            <a:pPr algn="l"/>
            <a:r>
              <a:rPr sz="1600" b="1" i="0">
                <a:solidFill>
                  <a:srgbClr val="333333"/>
                </a:solidFill>
                <a:latin typeface="Segoe UI"/>
              </a:rPr>
              <a:t>The verified answers and comparison script are reused</a:t>
            </a:r>
          </a:p>
        </p:txBody>
      </p:sp>
      <p:sp>
        <p:nvSpPr>
          <p:cNvPr id="14" name="TextBox 13"/>
          <p:cNvSpPr txBox="1"/>
          <p:nvPr/>
        </p:nvSpPr>
        <p:spPr>
          <a:xfrm>
            <a:off x="950976" y="4499610"/>
            <a:ext cx="10088575" cy="516635"/>
          </a:xfrm>
          <a:prstGeom prst="rect">
            <a:avLst/>
          </a:prstGeom>
          <a:noFill/>
        </p:spPr>
        <p:txBody>
          <a:bodyPr wrap="square" anchor="t" lIns="0" rIns="0" tIns="0" bIns="0">
            <a:spAutoFit/>
          </a:bodyPr>
          <a:lstStyle/>
          <a:p>
            <a:pPr algn="l"/>
            <a:r>
              <a:rPr sz="1350" b="0" i="0">
                <a:solidFill>
                  <a:srgbClr val="666666"/>
                </a:solidFill>
                <a:latin typeface="Segoe UI"/>
              </a:rPr>
              <a:t>121 curated command descriptions and the option-by-option diff. Roughly 80 hours of graduate student annotation reused rather than recreated.</a:t>
            </a:r>
          </a:p>
        </p:txBody>
      </p:sp>
      <p:sp>
        <p:nvSpPr>
          <p:cNvPr id="15" name="Oval 14"/>
          <p:cNvSpPr/>
          <p:nvPr/>
        </p:nvSpPr>
        <p:spPr>
          <a:xfrm>
            <a:off x="667512" y="513765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061966"/>
            <a:ext cx="10600639" cy="343408"/>
          </a:xfrm>
          <a:prstGeom prst="rect">
            <a:avLst/>
          </a:prstGeom>
          <a:noFill/>
        </p:spPr>
        <p:txBody>
          <a:bodyPr wrap="square" anchor="t" lIns="0" rIns="0" tIns="0" bIns="0">
            <a:spAutoFit/>
          </a:bodyPr>
          <a:lstStyle/>
          <a:p>
            <a:pPr algn="l"/>
            <a:r>
              <a:rPr sz="1600" b="1" i="0">
                <a:solidFill>
                  <a:srgbClr val="333333"/>
                </a:solidFill>
                <a:latin typeface="Segoe UI"/>
              </a:rPr>
              <a:t>Caruca is wrapped as a separate program, not imported</a:t>
            </a:r>
          </a:p>
        </p:txBody>
      </p:sp>
      <p:sp>
        <p:nvSpPr>
          <p:cNvPr id="17" name="TextBox 16"/>
          <p:cNvSpPr txBox="1"/>
          <p:nvPr/>
        </p:nvSpPr>
        <p:spPr>
          <a:xfrm>
            <a:off x="950976" y="5405374"/>
            <a:ext cx="10088575" cy="516635"/>
          </a:xfrm>
          <a:prstGeom prst="rect">
            <a:avLst/>
          </a:prstGeom>
          <a:noFill/>
        </p:spPr>
        <p:txBody>
          <a:bodyPr wrap="square" anchor="t" lIns="0" rIns="0" tIns="0" bIns="0">
            <a:spAutoFit/>
          </a:bodyPr>
          <a:lstStyle/>
          <a:p>
            <a:pPr algn="l"/>
            <a:r>
              <a:rPr sz="1350" b="0" i="0">
                <a:solidFill>
                  <a:srgbClr val="666666"/>
                </a:solidFill>
                <a:latin typeface="Segoe UI"/>
              </a:rPr>
              <a:t>It needs a newer Python than this machine has, and running commands needs a different host. A process boundary keeps both workable.</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system_architecture, component_functionality</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DETAIL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One thing to fix in the comparison script</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374904"/>
          </a:xfrm>
          <a:prstGeom prst="rect">
            <a:avLst/>
          </a:prstGeom>
          <a:noFill/>
        </p:spPr>
        <p:txBody>
          <a:bodyPr wrap="square" anchor="t" lIns="0" rIns="0" tIns="0" bIns="0">
            <a:spAutoFit/>
          </a:bodyPr>
          <a:lstStyle/>
          <a:p>
            <a:pPr algn="l"/>
            <a:r>
              <a:rPr sz="1800" b="0" i="0">
                <a:solidFill>
                  <a:srgbClr val="666666"/>
                </a:solidFill>
                <a:latin typeface="Segoe UI"/>
              </a:rPr>
              <a:t>It affects one reported number, not the headline count.</a:t>
            </a:r>
          </a:p>
        </p:txBody>
      </p:sp>
      <p:sp>
        <p:nvSpPr>
          <p:cNvPr id="6" name="Oval 5"/>
          <p:cNvSpPr/>
          <p:nvPr/>
        </p:nvSpPr>
        <p:spPr>
          <a:xfrm>
            <a:off x="667512" y="245186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368296"/>
            <a:ext cx="10600639" cy="359156"/>
          </a:xfrm>
          <a:prstGeom prst="rect">
            <a:avLst/>
          </a:prstGeom>
          <a:noFill/>
        </p:spPr>
        <p:txBody>
          <a:bodyPr wrap="square" anchor="t" lIns="0" rIns="0" tIns="0" bIns="0">
            <a:spAutoFit/>
          </a:bodyPr>
          <a:lstStyle/>
          <a:p>
            <a:pPr algn="l"/>
            <a:r>
              <a:rPr sz="1700" b="1" i="0">
                <a:solidFill>
                  <a:srgbClr val="333333"/>
                </a:solidFill>
                <a:latin typeface="Segoe UI"/>
              </a:rPr>
              <a:t>The per-command match count is sound</a:t>
            </a:r>
          </a:p>
        </p:txBody>
      </p:sp>
      <p:sp>
        <p:nvSpPr>
          <p:cNvPr id="8" name="TextBox 7"/>
          <p:cNvSpPr txBox="1"/>
          <p:nvPr/>
        </p:nvSpPr>
        <p:spPr>
          <a:xfrm>
            <a:off x="950976" y="2727452"/>
            <a:ext cx="10088575" cy="548132"/>
          </a:xfrm>
          <a:prstGeom prst="rect">
            <a:avLst/>
          </a:prstGeom>
          <a:noFill/>
        </p:spPr>
        <p:txBody>
          <a:bodyPr wrap="square" anchor="t" lIns="0" rIns="0" tIns="0" bIns="0">
            <a:spAutoFit/>
          </a:bodyPr>
          <a:lstStyle/>
          <a:p>
            <a:pPr algn="l"/>
            <a:r>
              <a:rPr sz="1450" b="0" i="0">
                <a:solidFill>
                  <a:srgbClr val="666666"/>
                </a:solidFill>
                <a:latin typeface="Segoe UI"/>
              </a:rPr>
              <a:t>A command counts as matching only when every option matches. That logic is correct and we use it unchanged.</a:t>
            </a:r>
          </a:p>
        </p:txBody>
      </p:sp>
      <p:sp>
        <p:nvSpPr>
          <p:cNvPr id="9" name="Oval 8"/>
          <p:cNvSpPr/>
          <p:nvPr/>
        </p:nvSpPr>
        <p:spPr>
          <a:xfrm>
            <a:off x="667512" y="344144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357880"/>
            <a:ext cx="10600639" cy="359156"/>
          </a:xfrm>
          <a:prstGeom prst="rect">
            <a:avLst/>
          </a:prstGeom>
          <a:noFill/>
        </p:spPr>
        <p:txBody>
          <a:bodyPr wrap="square" anchor="t" lIns="0" rIns="0" tIns="0" bIns="0">
            <a:spAutoFit/>
          </a:bodyPr>
          <a:lstStyle/>
          <a:p>
            <a:pPr algn="l"/>
            <a:r>
              <a:rPr sz="1700" b="1" i="0">
                <a:solidFill>
                  <a:srgbClr val="333333"/>
                </a:solidFill>
                <a:latin typeface="Segoe UI"/>
              </a:rPr>
              <a:t>The percentage figure divides two different units</a:t>
            </a:r>
          </a:p>
        </p:txBody>
      </p:sp>
      <p:sp>
        <p:nvSpPr>
          <p:cNvPr id="11" name="TextBox 10"/>
          <p:cNvSpPr txBox="1"/>
          <p:nvPr/>
        </p:nvSpPr>
        <p:spPr>
          <a:xfrm>
            <a:off x="950976" y="3717036"/>
            <a:ext cx="10088575" cy="548132"/>
          </a:xfrm>
          <a:prstGeom prst="rect">
            <a:avLst/>
          </a:prstGeom>
          <a:noFill/>
        </p:spPr>
        <p:txBody>
          <a:bodyPr wrap="square" anchor="t" lIns="0" rIns="0" tIns="0" bIns="0">
            <a:spAutoFit/>
          </a:bodyPr>
          <a:lstStyle/>
          <a:p>
            <a:pPr algn="l"/>
            <a:r>
              <a:rPr sz="1450" b="0" i="0">
                <a:solidFill>
                  <a:srgbClr val="666666"/>
                </a:solidFill>
                <a:latin typeface="Segoe UI"/>
              </a:rPr>
              <a:t>Mismatches are counted per option, but the divisor counts data fields, so the resulting percentage is not option-level accuracy.</a:t>
            </a:r>
          </a:p>
        </p:txBody>
      </p:sp>
      <p:sp>
        <p:nvSpPr>
          <p:cNvPr id="12" name="Oval 11"/>
          <p:cNvSpPr/>
          <p:nvPr/>
        </p:nvSpPr>
        <p:spPr>
          <a:xfrm>
            <a:off x="667512" y="443103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347464"/>
            <a:ext cx="10600639" cy="359156"/>
          </a:xfrm>
          <a:prstGeom prst="rect">
            <a:avLst/>
          </a:prstGeom>
          <a:noFill/>
        </p:spPr>
        <p:txBody>
          <a:bodyPr wrap="square" anchor="t" lIns="0" rIns="0" tIns="0" bIns="0">
            <a:spAutoFit/>
          </a:bodyPr>
          <a:lstStyle/>
          <a:p>
            <a:pPr algn="l"/>
            <a:r>
              <a:rPr sz="1700" b="1" i="0">
                <a:solidFill>
                  <a:srgbClr val="333333"/>
                </a:solidFill>
                <a:latin typeface="Segoe UI"/>
              </a:rPr>
              <a:t>Consequence: it does not reproduce the paper's option-level figure</a:t>
            </a:r>
          </a:p>
        </p:txBody>
      </p:sp>
      <p:sp>
        <p:nvSpPr>
          <p:cNvPr id="14" name="TextBox 13"/>
          <p:cNvSpPr txBox="1"/>
          <p:nvPr/>
        </p:nvSpPr>
        <p:spPr>
          <a:xfrm>
            <a:off x="950976" y="4706620"/>
            <a:ext cx="10088575" cy="319786"/>
          </a:xfrm>
          <a:prstGeom prst="rect">
            <a:avLst/>
          </a:prstGeom>
          <a:noFill/>
        </p:spPr>
        <p:txBody>
          <a:bodyPr wrap="square" anchor="t" lIns="0" rIns="0" tIns="0" bIns="0">
            <a:spAutoFit/>
          </a:bodyPr>
          <a:lstStyle/>
          <a:p>
            <a:pPr algn="l"/>
            <a:r>
              <a:rPr sz="1450" b="0" i="0">
                <a:solidFill>
                  <a:srgbClr val="666666"/>
                </a:solidFill>
                <a:latin typeface="Segoe UI"/>
              </a:rPr>
              <a:t>The per-command count is unaffected, which is why step one leads with that one.</a:t>
            </a:r>
          </a:p>
        </p:txBody>
      </p:sp>
      <p:sp>
        <p:nvSpPr>
          <p:cNvPr id="15" name="Oval 14"/>
          <p:cNvSpPr/>
          <p:nvPr/>
        </p:nvSpPr>
        <p:spPr>
          <a:xfrm>
            <a:off x="667512" y="519226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108702"/>
            <a:ext cx="10600639" cy="359156"/>
          </a:xfrm>
          <a:prstGeom prst="rect">
            <a:avLst/>
          </a:prstGeom>
          <a:noFill/>
        </p:spPr>
        <p:txBody>
          <a:bodyPr wrap="square" anchor="t" lIns="0" rIns="0" tIns="0" bIns="0">
            <a:spAutoFit/>
          </a:bodyPr>
          <a:lstStyle/>
          <a:p>
            <a:pPr algn="l"/>
            <a:r>
              <a:rPr sz="1700" b="1" i="0">
                <a:solidFill>
                  <a:srgbClr val="333333"/>
                </a:solidFill>
                <a:latin typeface="Segoe UI"/>
              </a:rPr>
              <a:t>Fix is small and scoped to our copy</a:t>
            </a:r>
          </a:p>
        </p:txBody>
      </p:sp>
      <p:sp>
        <p:nvSpPr>
          <p:cNvPr id="17" name="TextBox 16"/>
          <p:cNvSpPr txBox="1"/>
          <p:nvPr/>
        </p:nvSpPr>
        <p:spPr>
          <a:xfrm>
            <a:off x="950976" y="5467858"/>
            <a:ext cx="10088575" cy="319786"/>
          </a:xfrm>
          <a:prstGeom prst="rect">
            <a:avLst/>
          </a:prstGeom>
          <a:noFill/>
        </p:spPr>
        <p:txBody>
          <a:bodyPr wrap="square" anchor="t" lIns="0" rIns="0" tIns="0" bIns="0">
            <a:spAutoFit/>
          </a:bodyPr>
          <a:lstStyle/>
          <a:p>
            <a:pPr algn="l"/>
            <a:r>
              <a:rPr sz="1450" b="0" i="0">
                <a:solidFill>
                  <a:srgbClr val="666666"/>
                </a:solidFill>
                <a:latin typeface="Segoe UI"/>
              </a:rPr>
              <a:t>Correct the divisor, and record which method produced every number we report.</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roadmap</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DETAIL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Why this comparison is worth running</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390651"/>
          </a:xfrm>
          <a:prstGeom prst="rect">
            <a:avLst/>
          </a:prstGeom>
          <a:noFill/>
        </p:spPr>
        <p:txBody>
          <a:bodyPr wrap="square" anchor="t" lIns="0" rIns="0" tIns="0" bIns="0">
            <a:spAutoFit/>
          </a:bodyPr>
          <a:lstStyle/>
          <a:p>
            <a:pPr algn="l"/>
            <a:r>
              <a:rPr sz="1900" b="0" i="0">
                <a:solidFill>
                  <a:srgbClr val="666666"/>
                </a:solidFill>
                <a:latin typeface="Segoe UI"/>
              </a:rPr>
              <a:t>The result is useful whichever way it comes out.</a:t>
            </a:r>
          </a:p>
        </p:txBody>
      </p:sp>
      <p:sp>
        <p:nvSpPr>
          <p:cNvPr id="6" name="Oval 5"/>
          <p:cNvSpPr/>
          <p:nvPr/>
        </p:nvSpPr>
        <p:spPr>
          <a:xfrm>
            <a:off x="667512" y="2475483"/>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384044"/>
            <a:ext cx="10600639" cy="374904"/>
          </a:xfrm>
          <a:prstGeom prst="rect">
            <a:avLst/>
          </a:prstGeom>
          <a:noFill/>
        </p:spPr>
        <p:txBody>
          <a:bodyPr wrap="square" anchor="t" lIns="0" rIns="0" tIns="0" bIns="0">
            <a:spAutoFit/>
          </a:bodyPr>
          <a:lstStyle/>
          <a:p>
            <a:pPr algn="l"/>
            <a:r>
              <a:rPr sz="1800" b="1" i="0">
                <a:solidFill>
                  <a:srgbClr val="333333"/>
                </a:solidFill>
                <a:latin typeface="Segoe UI"/>
              </a:rPr>
              <a:t>If the plain prompt does well, that is a substantive finding</a:t>
            </a:r>
          </a:p>
        </p:txBody>
      </p:sp>
      <p:sp>
        <p:nvSpPr>
          <p:cNvPr id="8" name="TextBox 7"/>
          <p:cNvSpPr txBox="1"/>
          <p:nvPr/>
        </p:nvSpPr>
        <p:spPr>
          <a:xfrm>
            <a:off x="950976" y="2758948"/>
            <a:ext cx="10088575" cy="327660"/>
          </a:xfrm>
          <a:prstGeom prst="rect">
            <a:avLst/>
          </a:prstGeom>
          <a:noFill/>
        </p:spPr>
        <p:txBody>
          <a:bodyPr wrap="square" anchor="t" lIns="0" rIns="0" tIns="0" bIns="0">
            <a:spAutoFit/>
          </a:bodyPr>
          <a:lstStyle/>
          <a:p>
            <a:pPr algn="l"/>
            <a:r>
              <a:rPr sz="1500" b="0" i="0">
                <a:solidFill>
                  <a:srgbClr val="666666"/>
                </a:solidFill>
                <a:latin typeface="Segoe UI"/>
              </a:rPr>
              <a:t>It would suggest a large hand-built pipeline is not required for this class of problem.</a:t>
            </a:r>
          </a:p>
        </p:txBody>
      </p:sp>
      <p:sp>
        <p:nvSpPr>
          <p:cNvPr id="9" name="Oval 8"/>
          <p:cNvSpPr/>
          <p:nvPr/>
        </p:nvSpPr>
        <p:spPr>
          <a:xfrm>
            <a:off x="667512" y="3278631"/>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187192"/>
            <a:ext cx="10600639" cy="374904"/>
          </a:xfrm>
          <a:prstGeom prst="rect">
            <a:avLst/>
          </a:prstGeom>
          <a:noFill/>
        </p:spPr>
        <p:txBody>
          <a:bodyPr wrap="square" anchor="t" lIns="0" rIns="0" tIns="0" bIns="0">
            <a:spAutoFit/>
          </a:bodyPr>
          <a:lstStyle/>
          <a:p>
            <a:pPr algn="l"/>
            <a:r>
              <a:rPr sz="1800" b="1" i="0">
                <a:solidFill>
                  <a:srgbClr val="333333"/>
                </a:solidFill>
                <a:latin typeface="Segoe UI"/>
              </a:rPr>
              <a:t>If it does badly, that measures what the engineering buys</a:t>
            </a:r>
          </a:p>
        </p:txBody>
      </p:sp>
      <p:sp>
        <p:nvSpPr>
          <p:cNvPr id="11" name="TextBox 10"/>
          <p:cNvSpPr txBox="1"/>
          <p:nvPr/>
        </p:nvSpPr>
        <p:spPr>
          <a:xfrm>
            <a:off x="950976" y="3562096"/>
            <a:ext cx="10088575" cy="327660"/>
          </a:xfrm>
          <a:prstGeom prst="rect">
            <a:avLst/>
          </a:prstGeom>
          <a:noFill/>
        </p:spPr>
        <p:txBody>
          <a:bodyPr wrap="square" anchor="t" lIns="0" rIns="0" tIns="0" bIns="0">
            <a:spAutoFit/>
          </a:bodyPr>
          <a:lstStyle/>
          <a:p>
            <a:pPr algn="l"/>
            <a:r>
              <a:rPr sz="1500" b="0" i="0">
                <a:solidFill>
                  <a:srgbClr val="666666"/>
                </a:solidFill>
                <a:latin typeface="Segoe UI"/>
              </a:rPr>
              <a:t>Which is equally publishable, and strengthens rather than weakens the original work.</a:t>
            </a:r>
          </a:p>
        </p:txBody>
      </p:sp>
      <p:sp>
        <p:nvSpPr>
          <p:cNvPr id="12" name="Oval 11"/>
          <p:cNvSpPr/>
          <p:nvPr/>
        </p:nvSpPr>
        <p:spPr>
          <a:xfrm>
            <a:off x="667512" y="408178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3990340"/>
            <a:ext cx="10600639" cy="374904"/>
          </a:xfrm>
          <a:prstGeom prst="rect">
            <a:avLst/>
          </a:prstGeom>
          <a:noFill/>
        </p:spPr>
        <p:txBody>
          <a:bodyPr wrap="square" anchor="t" lIns="0" rIns="0" tIns="0" bIns="0">
            <a:spAutoFit/>
          </a:bodyPr>
          <a:lstStyle/>
          <a:p>
            <a:pPr algn="l"/>
            <a:r>
              <a:rPr sz="1800" b="1" i="0">
                <a:solidFill>
                  <a:srgbClr val="333333"/>
                </a:solidFill>
                <a:latin typeface="Segoe UI"/>
              </a:rPr>
              <a:t>Either way we produce numbers that do not exist today</a:t>
            </a:r>
          </a:p>
        </p:txBody>
      </p:sp>
      <p:sp>
        <p:nvSpPr>
          <p:cNvPr id="14" name="TextBox 13"/>
          <p:cNvSpPr txBox="1"/>
          <p:nvPr/>
        </p:nvSpPr>
        <p:spPr>
          <a:xfrm>
            <a:off x="950976" y="4365244"/>
            <a:ext cx="10088575" cy="327660"/>
          </a:xfrm>
          <a:prstGeom prst="rect">
            <a:avLst/>
          </a:prstGeom>
          <a:noFill/>
        </p:spPr>
        <p:txBody>
          <a:bodyPr wrap="square" anchor="t" lIns="0" rIns="0" tIns="0" bIns="0">
            <a:spAutoFit/>
          </a:bodyPr>
          <a:lstStyle/>
          <a:p>
            <a:pPr algn="l"/>
            <a:r>
              <a:rPr sz="1500" b="0" i="0">
                <a:solidFill>
                  <a:srgbClr val="666666"/>
                </a:solidFill>
                <a:latin typeface="Segoe UI"/>
              </a:rPr>
              <a:t>Cost per command, and whether repeated runs agree. Neither has been reported for this problem.</a:t>
            </a:r>
          </a:p>
        </p:txBody>
      </p:sp>
      <p:sp>
        <p:nvSpPr>
          <p:cNvPr id="15" name="Oval 14"/>
          <p:cNvSpPr/>
          <p:nvPr/>
        </p:nvSpPr>
        <p:spPr>
          <a:xfrm>
            <a:off x="667512" y="488492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4793488"/>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 design keeps the comparison interpretable</a:t>
            </a:r>
          </a:p>
        </p:txBody>
      </p:sp>
      <p:sp>
        <p:nvSpPr>
          <p:cNvPr id="17" name="TextBox 16"/>
          <p:cNvSpPr txBox="1"/>
          <p:nvPr/>
        </p:nvSpPr>
        <p:spPr>
          <a:xfrm>
            <a:off x="950976" y="5168392"/>
            <a:ext cx="10088575" cy="327660"/>
          </a:xfrm>
          <a:prstGeom prst="rect">
            <a:avLst/>
          </a:prstGeom>
          <a:noFill/>
        </p:spPr>
        <p:txBody>
          <a:bodyPr wrap="square" anchor="t" lIns="0" rIns="0" tIns="0" bIns="0">
            <a:spAutoFit/>
          </a:bodyPr>
          <a:lstStyle/>
          <a:p>
            <a:pPr algn="l"/>
            <a:r>
              <a:rPr sz="1500" b="0" i="0">
                <a:solidFill>
                  <a:srgbClr val="666666"/>
                </a:solidFill>
                <a:latin typeface="Segoe UI"/>
              </a:rPr>
              <a:t>One variable changes at a time: same inputs, same yardstick, deliberately plain baseline.</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master_idea, roadmap</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Four questions for you</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365760"/>
          </a:xfrm>
          <a:prstGeom prst="rect">
            <a:avLst/>
          </a:prstGeom>
          <a:noFill/>
        </p:spPr>
        <p:txBody>
          <a:bodyPr wrap="square" anchor="t" lIns="0" rIns="0" tIns="0" bIns="0">
            <a:spAutoFit/>
          </a:bodyPr>
          <a:lstStyle/>
          <a:p>
            <a:pPr algn="l"/>
            <a:r>
              <a:rPr sz="1700" b="0" i="0">
                <a:solidFill>
                  <a:srgbClr val="666666"/>
                </a:solidFill>
                <a:latin typeface="Segoe UI"/>
              </a:rPr>
              <a:t>These are genuinely open. Your answers change what I build.</a:t>
            </a:r>
          </a:p>
        </p:txBody>
      </p:sp>
      <p:sp>
        <p:nvSpPr>
          <p:cNvPr id="5" name="Oval 4"/>
          <p:cNvSpPr/>
          <p:nvPr/>
        </p:nvSpPr>
        <p:spPr>
          <a:xfrm>
            <a:off x="640080" y="1818894"/>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1</a:t>
            </a:r>
          </a:p>
        </p:txBody>
      </p:sp>
      <p:sp>
        <p:nvSpPr>
          <p:cNvPr id="6" name="TextBox 5"/>
          <p:cNvSpPr txBox="1"/>
          <p:nvPr/>
        </p:nvSpPr>
        <p:spPr>
          <a:xfrm>
            <a:off x="1261872" y="1883664"/>
            <a:ext cx="10289743" cy="327660"/>
          </a:xfrm>
          <a:prstGeom prst="rect">
            <a:avLst/>
          </a:prstGeom>
          <a:noFill/>
        </p:spPr>
        <p:txBody>
          <a:bodyPr wrap="square" anchor="t" lIns="0" rIns="0" tIns="0" bIns="0">
            <a:spAutoFit/>
          </a:bodyPr>
          <a:lstStyle/>
          <a:p>
            <a:pPr algn="l"/>
            <a:r>
              <a:rPr sz="1500" b="1" i="0">
                <a:solidFill>
                  <a:srgbClr val="333333"/>
                </a:solidFill>
                <a:latin typeface="Segoe UI"/>
              </a:rPr>
              <a:t>How should we safely run destructive commands?</a:t>
            </a:r>
          </a:p>
        </p:txBody>
      </p:sp>
      <p:sp>
        <p:nvSpPr>
          <p:cNvPr id="7" name="TextBox 6"/>
          <p:cNvSpPr txBox="1"/>
          <p:nvPr/>
        </p:nvSpPr>
        <p:spPr>
          <a:xfrm>
            <a:off x="1261872" y="2183892"/>
            <a:ext cx="10289743" cy="469392"/>
          </a:xfrm>
          <a:prstGeom prst="rect">
            <a:avLst/>
          </a:prstGeom>
          <a:noFill/>
        </p:spPr>
        <p:txBody>
          <a:bodyPr wrap="square" anchor="t" lIns="0" rIns="0" tIns="0" bIns="0">
            <a:spAutoFit/>
          </a:bodyPr>
          <a:lstStyle/>
          <a:p>
            <a:pPr algn="l"/>
            <a:r>
              <a:rPr sz="1200" b="0" i="0">
                <a:solidFill>
                  <a:srgbClr val="666666"/>
                </a:solidFill>
                <a:latin typeface="Segoe UI"/>
              </a:rPr>
              <a:t>Three candidate technologies, with different trade-offs between isolation strength and keeping the system-call visibility Caruca depends on.</a:t>
            </a:r>
          </a:p>
        </p:txBody>
      </p:sp>
      <p:sp>
        <p:nvSpPr>
          <p:cNvPr id="8" name="TextBox 7"/>
          <p:cNvSpPr txBox="1"/>
          <p:nvPr/>
        </p:nvSpPr>
        <p:spPr>
          <a:xfrm>
            <a:off x="1261872" y="2607564"/>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spend a day testing the strongest option before committing.</a:t>
            </a:r>
          </a:p>
        </p:txBody>
      </p:sp>
      <p:sp>
        <p:nvSpPr>
          <p:cNvPr id="9" name="Oval 8"/>
          <p:cNvSpPr/>
          <p:nvPr/>
        </p:nvSpPr>
        <p:spPr>
          <a:xfrm>
            <a:off x="640080" y="2841498"/>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2</a:t>
            </a:r>
          </a:p>
        </p:txBody>
      </p:sp>
      <p:sp>
        <p:nvSpPr>
          <p:cNvPr id="10" name="TextBox 9"/>
          <p:cNvSpPr txBox="1"/>
          <p:nvPr/>
        </p:nvSpPr>
        <p:spPr>
          <a:xfrm>
            <a:off x="1261872" y="2906268"/>
            <a:ext cx="10289743" cy="327660"/>
          </a:xfrm>
          <a:prstGeom prst="rect">
            <a:avLst/>
          </a:prstGeom>
          <a:noFill/>
        </p:spPr>
        <p:txBody>
          <a:bodyPr wrap="square" anchor="t" lIns="0" rIns="0" tIns="0" bIns="0">
            <a:spAutoFit/>
          </a:bodyPr>
          <a:lstStyle/>
          <a:p>
            <a:pPr algn="l"/>
            <a:r>
              <a:rPr sz="1500" b="1" i="0">
                <a:solidFill>
                  <a:srgbClr val="333333"/>
                </a:solidFill>
                <a:latin typeface="Segoe UI"/>
              </a:rPr>
              <a:t>Is measuring replaced hand-written code realistic yet?</a:t>
            </a:r>
          </a:p>
        </p:txBody>
      </p:sp>
      <p:sp>
        <p:nvSpPr>
          <p:cNvPr id="11" name="TextBox 10"/>
          <p:cNvSpPr txBox="1"/>
          <p:nvPr/>
        </p:nvSpPr>
        <p:spPr>
          <a:xfrm>
            <a:off x="1261872" y="3206496"/>
            <a:ext cx="10289743" cy="469392"/>
          </a:xfrm>
          <a:prstGeom prst="rect">
            <a:avLst/>
          </a:prstGeom>
          <a:noFill/>
        </p:spPr>
        <p:txBody>
          <a:bodyPr wrap="square" anchor="t" lIns="0" rIns="0" tIns="0" bIns="0">
            <a:spAutoFit/>
          </a:bodyPr>
          <a:lstStyle/>
          <a:p>
            <a:pPr algn="l"/>
            <a:r>
              <a:rPr sz="1200" b="0" i="0">
                <a:solidFill>
                  <a:srgbClr val="666666"/>
                </a:solidFill>
                <a:latin typeface="Segoe UI"/>
              </a:rPr>
              <a:t>In step one the model replaces one step and reuses everything else, so the honest figure is narrow. The broad version needs the deferred agent rebuild.</a:t>
            </a:r>
          </a:p>
        </p:txBody>
      </p:sp>
      <p:sp>
        <p:nvSpPr>
          <p:cNvPr id="12" name="TextBox 11"/>
          <p:cNvSpPr txBox="1"/>
          <p:nvPr/>
        </p:nvSpPr>
        <p:spPr>
          <a:xfrm>
            <a:off x="1261872" y="3630168"/>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report the narrow figure, state the limit plainly, revisit later.</a:t>
            </a:r>
          </a:p>
        </p:txBody>
      </p:sp>
      <p:sp>
        <p:nvSpPr>
          <p:cNvPr id="13" name="Oval 12"/>
          <p:cNvSpPr/>
          <p:nvPr/>
        </p:nvSpPr>
        <p:spPr>
          <a:xfrm>
            <a:off x="640080" y="3864102"/>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3</a:t>
            </a:r>
          </a:p>
        </p:txBody>
      </p:sp>
      <p:sp>
        <p:nvSpPr>
          <p:cNvPr id="14" name="TextBox 13"/>
          <p:cNvSpPr txBox="1"/>
          <p:nvPr/>
        </p:nvSpPr>
        <p:spPr>
          <a:xfrm>
            <a:off x="1261872" y="3928872"/>
            <a:ext cx="10289743" cy="327660"/>
          </a:xfrm>
          <a:prstGeom prst="rect">
            <a:avLst/>
          </a:prstGeom>
          <a:noFill/>
        </p:spPr>
        <p:txBody>
          <a:bodyPr wrap="square" anchor="t" lIns="0" rIns="0" tIns="0" bIns="0">
            <a:spAutoFit/>
          </a:bodyPr>
          <a:lstStyle/>
          <a:p>
            <a:pPr algn="l"/>
            <a:r>
              <a:rPr sz="1500" b="1" i="0">
                <a:solidFill>
                  <a:srgbClr val="333333"/>
                </a:solidFill>
                <a:latin typeface="Segoe UI"/>
              </a:rPr>
              <a:t>How many commands should the first comparison cover?</a:t>
            </a:r>
          </a:p>
        </p:txBody>
      </p:sp>
      <p:sp>
        <p:nvSpPr>
          <p:cNvPr id="15" name="TextBox 14"/>
          <p:cNvSpPr txBox="1"/>
          <p:nvPr/>
        </p:nvSpPr>
        <p:spPr>
          <a:xfrm>
            <a:off x="1261872" y="4229100"/>
            <a:ext cx="10289743" cy="469392"/>
          </a:xfrm>
          <a:prstGeom prst="rect">
            <a:avLst/>
          </a:prstGeom>
          <a:noFill/>
        </p:spPr>
        <p:txBody>
          <a:bodyPr wrap="square" anchor="t" lIns="0" rIns="0" tIns="0" bIns="0">
            <a:spAutoFit/>
          </a:bodyPr>
          <a:lstStyle/>
          <a:p>
            <a:pPr algn="l"/>
            <a:r>
              <a:rPr sz="1200" b="0" i="0">
                <a:solidFill>
                  <a:srgbClr val="666666"/>
                </a:solidFill>
                <a:latin typeface="Segoe UI"/>
              </a:rPr>
              <a:t>There are 121 with verified answers available. All of them is thorough but slow to first result; a handful proves the approach faster.</a:t>
            </a:r>
          </a:p>
        </p:txBody>
      </p:sp>
      <p:sp>
        <p:nvSpPr>
          <p:cNvPr id="16" name="TextBox 15"/>
          <p:cNvSpPr txBox="1"/>
          <p:nvPr/>
        </p:nvSpPr>
        <p:spPr>
          <a:xfrm>
            <a:off x="1261872" y="4652772"/>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start with about ten, covering different command shapes, then widen.</a:t>
            </a:r>
          </a:p>
        </p:txBody>
      </p:sp>
      <p:sp>
        <p:nvSpPr>
          <p:cNvPr id="17" name="Oval 16"/>
          <p:cNvSpPr/>
          <p:nvPr/>
        </p:nvSpPr>
        <p:spPr>
          <a:xfrm>
            <a:off x="640080" y="4886705"/>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4</a:t>
            </a:r>
          </a:p>
        </p:txBody>
      </p:sp>
      <p:sp>
        <p:nvSpPr>
          <p:cNvPr id="18" name="TextBox 17"/>
          <p:cNvSpPr txBox="1"/>
          <p:nvPr/>
        </p:nvSpPr>
        <p:spPr>
          <a:xfrm>
            <a:off x="1261872" y="4951475"/>
            <a:ext cx="10289743" cy="327660"/>
          </a:xfrm>
          <a:prstGeom prst="rect">
            <a:avLst/>
          </a:prstGeom>
          <a:noFill/>
        </p:spPr>
        <p:txBody>
          <a:bodyPr wrap="square" anchor="t" lIns="0" rIns="0" tIns="0" bIns="0">
            <a:spAutoFit/>
          </a:bodyPr>
          <a:lstStyle/>
          <a:p>
            <a:pPr algn="l"/>
            <a:r>
              <a:rPr sz="1500" b="1" i="0">
                <a:solidFill>
                  <a:srgbClr val="333333"/>
                </a:solidFill>
                <a:latin typeface="Segoe UI"/>
              </a:rPr>
              <a:t>Michael: is my reading of the code-size figure right?</a:t>
            </a:r>
          </a:p>
        </p:txBody>
      </p:sp>
      <p:sp>
        <p:nvSpPr>
          <p:cNvPr id="19" name="TextBox 18"/>
          <p:cNvSpPr txBox="1"/>
          <p:nvPr/>
        </p:nvSpPr>
        <p:spPr>
          <a:xfrm>
            <a:off x="1261872" y="5251703"/>
            <a:ext cx="10289743" cy="469392"/>
          </a:xfrm>
          <a:prstGeom prst="rect">
            <a:avLst/>
          </a:prstGeom>
          <a:noFill/>
        </p:spPr>
        <p:txBody>
          <a:bodyPr wrap="square" anchor="t" lIns="0" rIns="0" tIns="0" bIns="0">
            <a:spAutoFit/>
          </a:bodyPr>
          <a:lstStyle/>
          <a:p>
            <a:pPr algn="l"/>
            <a:r>
              <a:rPr sz="1200" b="0" i="0">
                <a:solidFill>
                  <a:srgbClr val="666666"/>
                </a:solidFill>
                <a:latin typeface="Segoe UI"/>
              </a:rPr>
              <a:t>I measured roughly 3,130 of the 6,520 lines as machine-generated rather than hand-written. It affects what we can claim later.</a:t>
            </a:r>
          </a:p>
        </p:txBody>
      </p:sp>
      <p:sp>
        <p:nvSpPr>
          <p:cNvPr id="20" name="TextBox 19"/>
          <p:cNvSpPr txBox="1"/>
          <p:nvPr/>
        </p:nvSpPr>
        <p:spPr>
          <a:xfrm>
            <a:off x="1261872" y="5675375"/>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confirm before any of it appears in writing.</a:t>
            </a:r>
          </a:p>
        </p:txBody>
      </p:sp>
      <p:sp>
        <p:nvSpPr>
          <p:cNvPr id="21" name="TextBox 20"/>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evaluation_gaps</a:t>
            </a:r>
          </a:p>
        </p:txBody>
      </p:sp>
      <p:sp>
        <p:nvSpPr>
          <p:cNvPr id="22" name="Rectangle 21"/>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4" name="TextBox 23"/>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1417320"/>
            <a:ext cx="10911535" cy="365760"/>
          </a:xfrm>
          <a:prstGeom prst="rect">
            <a:avLst/>
          </a:prstGeom>
          <a:noFill/>
        </p:spPr>
        <p:txBody>
          <a:bodyPr wrap="square" anchor="t" lIns="0" rIns="0" tIns="0" bIns="0">
            <a:spAutoFit/>
          </a:bodyPr>
          <a:lstStyle/>
          <a:p>
            <a:pPr algn="l"/>
            <a:r>
              <a:rPr sz="1300" b="1" i="0">
                <a:solidFill>
                  <a:srgbClr val="4A6FA5"/>
                </a:solidFill>
                <a:latin typeface="Segoe UI"/>
              </a:rPr>
              <a:t>NEXT STEP</a:t>
            </a:r>
          </a:p>
        </p:txBody>
      </p:sp>
      <p:sp>
        <p:nvSpPr>
          <p:cNvPr id="4" name="TextBox 3"/>
          <p:cNvSpPr txBox="1"/>
          <p:nvPr/>
        </p:nvSpPr>
        <p:spPr>
          <a:xfrm>
            <a:off x="640080" y="1874519"/>
            <a:ext cx="8947458" cy="1097280"/>
          </a:xfrm>
          <a:prstGeom prst="rect">
            <a:avLst/>
          </a:prstGeom>
          <a:noFill/>
        </p:spPr>
        <p:txBody>
          <a:bodyPr wrap="square" anchor="t" lIns="0" rIns="0" tIns="0" bIns="0">
            <a:spAutoFit/>
          </a:bodyPr>
          <a:lstStyle/>
          <a:p>
            <a:pPr algn="l"/>
            <a:r>
              <a:rPr sz="3300" b="1" i="0">
                <a:solidFill>
                  <a:srgbClr val="333333"/>
                </a:solidFill>
                <a:latin typeface="Segoe UI"/>
              </a:rPr>
              <a:t>Repair the AI step, then measure it</a:t>
            </a:r>
          </a:p>
        </p:txBody>
      </p:sp>
      <p:sp>
        <p:nvSpPr>
          <p:cNvPr id="5" name="TextBox 4"/>
          <p:cNvSpPr txBox="1"/>
          <p:nvPr/>
        </p:nvSpPr>
        <p:spPr>
          <a:xfrm>
            <a:off x="640080" y="3200400"/>
            <a:ext cx="8510997" cy="1463040"/>
          </a:xfrm>
          <a:prstGeom prst="rect">
            <a:avLst/>
          </a:prstGeom>
          <a:noFill/>
        </p:spPr>
        <p:txBody>
          <a:bodyPr wrap="square" anchor="t" lIns="0" rIns="0" tIns="0" bIns="0">
            <a:spAutoFit/>
          </a:bodyPr>
          <a:lstStyle/>
          <a:p>
            <a:pPr algn="l">
              <a:spcAft>
                <a:spcPts val="1000"/>
              </a:spcAft>
            </a:pPr>
            <a:r>
              <a:rPr sz="1700" b="0" i="0">
                <a:solidFill>
                  <a:srgbClr val="333333"/>
                </a:solidFill>
                <a:latin typeface="Segoe UI"/>
              </a:rPr>
              <a:t>It is small, well understood, and produces a cost figure that has never been published.</a:t>
            </a:r>
          </a:p>
          <a:p>
            <a:pPr algn="l">
              <a:spcAft>
                <a:spcPts val="1000"/>
              </a:spcAft>
            </a:pPr>
            <a:r>
              <a:rPr sz="1700" b="0" i="0">
                <a:solidFill>
                  <a:srgbClr val="333333"/>
                </a:solidFill>
                <a:latin typeface="Segoe UI"/>
              </a:rPr>
              <a:t>Everything else in step one follows from it.</a:t>
            </a:r>
          </a:p>
          <a:p>
            <a:pPr algn="l">
              <a:spcAft>
                <a:spcPts val="1000"/>
              </a:spcAft>
            </a:pPr>
            <a:r>
              <a:rPr sz="1700" b="0" i="0">
                <a:solidFill>
                  <a:srgbClr val="333333"/>
                </a:solidFill>
                <a:latin typeface="Segoe UI"/>
              </a:rPr>
              <a:t>I will come back with the first head-to-head numbers rather than another plan.</a:t>
            </a:r>
          </a:p>
        </p:txBody>
      </p:sp>
      <p:sp>
        <p:nvSpPr>
          <p:cNvPr id="6" name="Rounded Rectangle 5"/>
          <p:cNvSpPr/>
          <p:nvPr/>
        </p:nvSpPr>
        <p:spPr>
          <a:xfrm>
            <a:off x="640080" y="4892040"/>
            <a:ext cx="8510997" cy="658368"/>
          </a:xfrm>
          <a:prstGeom prst="roundRect">
            <a:avLst/>
          </a:prstGeom>
          <a:solidFill>
            <a:srgbClr val="FFFFFF"/>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r>
              <a:rPr sz="1650" b="1" i="0">
                <a:solidFill>
                  <a:srgbClr val="4A6FA5"/>
                </a:solidFill>
                <a:latin typeface="Segoe UI"/>
              </a:rPr>
              <a:t>Can we agree a checkpoint once the first comparison runs?</a:t>
            </a:r>
          </a:p>
        </p:txBody>
      </p:sp>
      <p:sp>
        <p:nvSpPr>
          <p:cNvPr id="7" name="Rectangle 6"/>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9" name="TextBox 8"/>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640080" y="2788920"/>
            <a:ext cx="1005840" cy="45720"/>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063240"/>
            <a:ext cx="10911535" cy="822960"/>
          </a:xfrm>
          <a:prstGeom prst="rect">
            <a:avLst/>
          </a:prstGeom>
          <a:noFill/>
        </p:spPr>
        <p:txBody>
          <a:bodyPr wrap="square" anchor="t" lIns="0" rIns="0" tIns="0" bIns="0">
            <a:spAutoFit/>
          </a:bodyPr>
          <a:lstStyle/>
          <a:p>
            <a:pPr algn="l"/>
            <a:r>
              <a:rPr sz="3400" b="1" i="0">
                <a:solidFill>
                  <a:srgbClr val="333333"/>
                </a:solidFill>
                <a:latin typeface="Segoe UI"/>
              </a:rPr>
              <a:t>Appendix</a:t>
            </a:r>
          </a:p>
        </p:txBody>
      </p:sp>
      <p:sp>
        <p:nvSpPr>
          <p:cNvPr id="5" name="TextBox 4"/>
          <p:cNvSpPr txBox="1"/>
          <p:nvPr/>
        </p:nvSpPr>
        <p:spPr>
          <a:xfrm>
            <a:off x="640080" y="3886200"/>
            <a:ext cx="7638074" cy="548640"/>
          </a:xfrm>
          <a:prstGeom prst="rect">
            <a:avLst/>
          </a:prstGeom>
          <a:noFill/>
        </p:spPr>
        <p:txBody>
          <a:bodyPr wrap="square" anchor="t" lIns="0" rIns="0" tIns="0" bIns="0">
            <a:spAutoFit/>
          </a:bodyPr>
          <a:lstStyle/>
          <a:p>
            <a:pPr algn="l"/>
            <a:r>
              <a:rPr sz="1700" b="0" i="0">
                <a:solidFill>
                  <a:srgbClr val="666666"/>
                </a:solidFill>
                <a:latin typeface="Segoe UI"/>
              </a:rPr>
              <a:t>Supporting detail, for reading afterwards</a:t>
            </a:r>
          </a:p>
        </p:txBody>
      </p:sp>
      <p:sp>
        <p:nvSpPr>
          <p:cNvPr id="6" name="Rectangle 5"/>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8" name="TextBox 7"/>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Appendix: what is in here</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3928152" cy="457200"/>
          </a:xfrm>
          <a:prstGeom prst="rect">
            <a:avLst/>
          </a:prstGeom>
          <a:noFill/>
        </p:spPr>
        <p:txBody>
          <a:bodyPr wrap="square" anchor="t" lIns="0" rIns="0" tIns="0" bIns="0">
            <a:spAutoFit/>
          </a:bodyPr>
          <a:lstStyle/>
          <a:p>
            <a:pPr algn="l"/>
            <a:r>
              <a:rPr sz="1400" b="1" i="0">
                <a:solidFill>
                  <a:srgbClr val="333333"/>
                </a:solidFill>
                <a:latin typeface="Segoe UI"/>
              </a:rPr>
              <a:t>Gaps the authors already note</a:t>
            </a:r>
          </a:p>
        </p:txBody>
      </p:sp>
      <p:sp>
        <p:nvSpPr>
          <p:cNvPr id="5" name="TextBox 4"/>
          <p:cNvSpPr txBox="1"/>
          <p:nvPr/>
        </p:nvSpPr>
        <p:spPr>
          <a:xfrm>
            <a:off x="4786463" y="1444752"/>
            <a:ext cx="6765151" cy="457200"/>
          </a:xfrm>
          <a:prstGeom prst="rect">
            <a:avLst/>
          </a:prstGeom>
          <a:noFill/>
        </p:spPr>
        <p:txBody>
          <a:bodyPr wrap="square" anchor="t" lIns="0" rIns="0" tIns="0" bIns="0">
            <a:spAutoFit/>
          </a:bodyPr>
          <a:lstStyle/>
          <a:p>
            <a:pPr algn="l"/>
            <a:r>
              <a:rPr sz="1400" b="0" i="0">
                <a:solidFill>
                  <a:srgbClr val="666666"/>
                </a:solidFill>
                <a:latin typeface="Segoe UI"/>
              </a:rPr>
              <a:t>Issues the paper itself acknowledges, kept separate from new findings</a:t>
            </a:r>
          </a:p>
        </p:txBody>
      </p:sp>
      <p:sp>
        <p:nvSpPr>
          <p:cNvPr id="6" name="TextBox 5"/>
          <p:cNvSpPr txBox="1"/>
          <p:nvPr/>
        </p:nvSpPr>
        <p:spPr>
          <a:xfrm>
            <a:off x="640080" y="1993392"/>
            <a:ext cx="3928152" cy="457200"/>
          </a:xfrm>
          <a:prstGeom prst="rect">
            <a:avLst/>
          </a:prstGeom>
          <a:noFill/>
        </p:spPr>
        <p:txBody>
          <a:bodyPr wrap="square" anchor="t" lIns="0" rIns="0" tIns="0" bIns="0">
            <a:spAutoFit/>
          </a:bodyPr>
          <a:lstStyle/>
          <a:p>
            <a:pPr algn="l"/>
            <a:r>
              <a:rPr sz="1400" b="1" i="0">
                <a:solidFill>
                  <a:srgbClr val="333333"/>
                </a:solidFill>
                <a:latin typeface="Segoe UI"/>
              </a:rPr>
              <a:t>Remaining new gaps</a:t>
            </a:r>
          </a:p>
        </p:txBody>
      </p:sp>
      <p:sp>
        <p:nvSpPr>
          <p:cNvPr id="7" name="TextBox 6"/>
          <p:cNvSpPr txBox="1"/>
          <p:nvPr/>
        </p:nvSpPr>
        <p:spPr>
          <a:xfrm>
            <a:off x="4786463" y="1993392"/>
            <a:ext cx="6765151" cy="457200"/>
          </a:xfrm>
          <a:prstGeom prst="rect">
            <a:avLst/>
          </a:prstGeom>
          <a:noFill/>
        </p:spPr>
        <p:txBody>
          <a:bodyPr wrap="square" anchor="t" lIns="0" rIns="0" tIns="0" bIns="0">
            <a:spAutoFit/>
          </a:bodyPr>
          <a:lstStyle/>
          <a:p>
            <a:pPr algn="l"/>
            <a:r>
              <a:rPr sz="1400" b="0" i="0">
                <a:solidFill>
                  <a:srgbClr val="666666"/>
                </a:solidFill>
                <a:latin typeface="Segoe UI"/>
              </a:rPr>
              <a:t>The rest of the issues not raised in the main deck</a:t>
            </a:r>
          </a:p>
        </p:txBody>
      </p:sp>
      <p:sp>
        <p:nvSpPr>
          <p:cNvPr id="8" name="TextBox 7"/>
          <p:cNvSpPr txBox="1"/>
          <p:nvPr/>
        </p:nvSpPr>
        <p:spPr>
          <a:xfrm>
            <a:off x="640080" y="2542032"/>
            <a:ext cx="3928152" cy="457200"/>
          </a:xfrm>
          <a:prstGeom prst="rect">
            <a:avLst/>
          </a:prstGeom>
          <a:noFill/>
        </p:spPr>
        <p:txBody>
          <a:bodyPr wrap="square" anchor="t" lIns="0" rIns="0" tIns="0" bIns="0">
            <a:spAutoFit/>
          </a:bodyPr>
          <a:lstStyle/>
          <a:p>
            <a:pPr algn="l"/>
            <a:r>
              <a:rPr sz="1400" b="1" i="0">
                <a:solidFill>
                  <a:srgbClr val="333333"/>
                </a:solidFill>
                <a:latin typeface="Segoe UI"/>
              </a:rPr>
              <a:t>The six measures in full</a:t>
            </a:r>
          </a:p>
        </p:txBody>
      </p:sp>
      <p:sp>
        <p:nvSpPr>
          <p:cNvPr id="9" name="TextBox 8"/>
          <p:cNvSpPr txBox="1"/>
          <p:nvPr/>
        </p:nvSpPr>
        <p:spPr>
          <a:xfrm>
            <a:off x="4786463" y="2542032"/>
            <a:ext cx="6765151" cy="457200"/>
          </a:xfrm>
          <a:prstGeom prst="rect">
            <a:avLst/>
          </a:prstGeom>
          <a:noFill/>
        </p:spPr>
        <p:txBody>
          <a:bodyPr wrap="square" anchor="t" lIns="0" rIns="0" tIns="0" bIns="0">
            <a:spAutoFit/>
          </a:bodyPr>
          <a:lstStyle/>
          <a:p>
            <a:pPr algn="l"/>
            <a:r>
              <a:rPr sz="1400" b="0" i="0">
                <a:solidFill>
                  <a:srgbClr val="666666"/>
                </a:solidFill>
                <a:latin typeface="Segoe UI"/>
              </a:rPr>
              <a:t>Complete wording, as recorded in the planning documents</a:t>
            </a:r>
          </a:p>
        </p:txBody>
      </p:sp>
      <p:sp>
        <p:nvSpPr>
          <p:cNvPr id="10" name="TextBox 9"/>
          <p:cNvSpPr txBox="1"/>
          <p:nvPr/>
        </p:nvSpPr>
        <p:spPr>
          <a:xfrm>
            <a:off x="640080" y="3090672"/>
            <a:ext cx="3928152" cy="457200"/>
          </a:xfrm>
          <a:prstGeom prst="rect">
            <a:avLst/>
          </a:prstGeom>
          <a:noFill/>
        </p:spPr>
        <p:txBody>
          <a:bodyPr wrap="square" anchor="t" lIns="0" rIns="0" tIns="0" bIns="0">
            <a:spAutoFit/>
          </a:bodyPr>
          <a:lstStyle/>
          <a:p>
            <a:pPr algn="l"/>
            <a:r>
              <a:rPr sz="1400" b="1" i="0">
                <a:solidFill>
                  <a:srgbClr val="333333"/>
                </a:solidFill>
                <a:latin typeface="Segoe UI"/>
              </a:rPr>
              <a:t>Build order in detail</a:t>
            </a:r>
          </a:p>
        </p:txBody>
      </p:sp>
      <p:sp>
        <p:nvSpPr>
          <p:cNvPr id="11" name="TextBox 10"/>
          <p:cNvSpPr txBox="1"/>
          <p:nvPr/>
        </p:nvSpPr>
        <p:spPr>
          <a:xfrm>
            <a:off x="4786463" y="3090672"/>
            <a:ext cx="6765151" cy="457200"/>
          </a:xfrm>
          <a:prstGeom prst="rect">
            <a:avLst/>
          </a:prstGeom>
          <a:noFill/>
        </p:spPr>
        <p:txBody>
          <a:bodyPr wrap="square" anchor="t" lIns="0" rIns="0" tIns="0" bIns="0">
            <a:spAutoFit/>
          </a:bodyPr>
          <a:lstStyle/>
          <a:p>
            <a:pPr algn="l"/>
            <a:r>
              <a:rPr sz="1400" b="0" i="0">
                <a:solidFill>
                  <a:srgbClr val="666666"/>
                </a:solidFill>
                <a:latin typeface="Segoe UI"/>
              </a:rPr>
              <a:t>All six phases, with what each one makes possible</a:t>
            </a:r>
          </a:p>
        </p:txBody>
      </p:sp>
      <p:sp>
        <p:nvSpPr>
          <p:cNvPr id="12" name="TextBox 11"/>
          <p:cNvSpPr txBox="1"/>
          <p:nvPr/>
        </p:nvSpPr>
        <p:spPr>
          <a:xfrm>
            <a:off x="640080" y="3639312"/>
            <a:ext cx="3928152" cy="457200"/>
          </a:xfrm>
          <a:prstGeom prst="rect">
            <a:avLst/>
          </a:prstGeom>
          <a:noFill/>
        </p:spPr>
        <p:txBody>
          <a:bodyPr wrap="square" anchor="t" lIns="0" rIns="0" tIns="0" bIns="0">
            <a:spAutoFit/>
          </a:bodyPr>
          <a:lstStyle/>
          <a:p>
            <a:pPr algn="l"/>
            <a:r>
              <a:rPr sz="1400" b="1" i="0">
                <a:solidFill>
                  <a:srgbClr val="333333"/>
                </a:solidFill>
                <a:latin typeface="Segoe UI"/>
              </a:rPr>
              <a:t>How correctness is compared</a:t>
            </a:r>
          </a:p>
        </p:txBody>
      </p:sp>
      <p:sp>
        <p:nvSpPr>
          <p:cNvPr id="13" name="TextBox 12"/>
          <p:cNvSpPr txBox="1"/>
          <p:nvPr/>
        </p:nvSpPr>
        <p:spPr>
          <a:xfrm>
            <a:off x="4786463" y="3639312"/>
            <a:ext cx="6765151" cy="457200"/>
          </a:xfrm>
          <a:prstGeom prst="rect">
            <a:avLst/>
          </a:prstGeom>
          <a:noFill/>
        </p:spPr>
        <p:txBody>
          <a:bodyPr wrap="square" anchor="t" lIns="0" rIns="0" tIns="0" bIns="0">
            <a:spAutoFit/>
          </a:bodyPr>
          <a:lstStyle/>
          <a:p>
            <a:pPr algn="l"/>
            <a:r>
              <a:rPr sz="1400" b="0" i="0">
                <a:solidFill>
                  <a:srgbClr val="666666"/>
                </a:solidFill>
                <a:latin typeface="Segoe UI"/>
              </a:rPr>
              <a:t>Three different methods, and why they are not interchangeable</a:t>
            </a:r>
          </a:p>
        </p:txBody>
      </p:sp>
      <p:sp>
        <p:nvSpPr>
          <p:cNvPr id="14" name="TextBox 13"/>
          <p:cNvSpPr txBox="1"/>
          <p:nvPr/>
        </p:nvSpPr>
        <p:spPr>
          <a:xfrm>
            <a:off x="640080" y="4187952"/>
            <a:ext cx="3928152" cy="457200"/>
          </a:xfrm>
          <a:prstGeom prst="rect">
            <a:avLst/>
          </a:prstGeom>
          <a:noFill/>
        </p:spPr>
        <p:txBody>
          <a:bodyPr wrap="square" anchor="t" lIns="0" rIns="0" tIns="0" bIns="0">
            <a:spAutoFit/>
          </a:bodyPr>
          <a:lstStyle/>
          <a:p>
            <a:pPr algn="l"/>
            <a:r>
              <a:rPr sz="1400" b="1" i="0">
                <a:solidFill>
                  <a:srgbClr val="333333"/>
                </a:solidFill>
                <a:latin typeface="Segoe UI"/>
              </a:rPr>
              <a:t>Rough effort estimate</a:t>
            </a:r>
          </a:p>
        </p:txBody>
      </p:sp>
      <p:sp>
        <p:nvSpPr>
          <p:cNvPr id="15" name="TextBox 14"/>
          <p:cNvSpPr txBox="1"/>
          <p:nvPr/>
        </p:nvSpPr>
        <p:spPr>
          <a:xfrm>
            <a:off x="4786463" y="4187952"/>
            <a:ext cx="6765151" cy="457200"/>
          </a:xfrm>
          <a:prstGeom prst="rect">
            <a:avLst/>
          </a:prstGeom>
          <a:noFill/>
        </p:spPr>
        <p:txBody>
          <a:bodyPr wrap="square" anchor="t" lIns="0" rIns="0" tIns="0" bIns="0">
            <a:spAutoFit/>
          </a:bodyPr>
          <a:lstStyle/>
          <a:p>
            <a:pPr algn="l"/>
            <a:r>
              <a:rPr sz="1400" b="0" i="0">
                <a:solidFill>
                  <a:srgbClr val="666666"/>
                </a:solidFill>
                <a:latin typeface="Segoe UI"/>
              </a:rPr>
              <a:t>Sizing for step one, deliberately kept out of the main deck</a:t>
            </a:r>
          </a:p>
        </p:txBody>
      </p:sp>
      <p:sp>
        <p:nvSpPr>
          <p:cNvPr id="16" name="TextBox 15"/>
          <p:cNvSpPr txBox="1"/>
          <p:nvPr/>
        </p:nvSpPr>
        <p:spPr>
          <a:xfrm>
            <a:off x="640080" y="4736592"/>
            <a:ext cx="3928152" cy="457200"/>
          </a:xfrm>
          <a:prstGeom prst="rect">
            <a:avLst/>
          </a:prstGeom>
          <a:noFill/>
        </p:spPr>
        <p:txBody>
          <a:bodyPr wrap="square" anchor="t" lIns="0" rIns="0" tIns="0" bIns="0">
            <a:spAutoFit/>
          </a:bodyPr>
          <a:lstStyle/>
          <a:p>
            <a:pPr algn="l"/>
            <a:r>
              <a:rPr sz="1400" b="1" i="0">
                <a:solidFill>
                  <a:srgbClr val="333333"/>
                </a:solidFill>
                <a:latin typeface="Segoe UI"/>
              </a:rPr>
              <a:t>Source documents</a:t>
            </a:r>
          </a:p>
        </p:txBody>
      </p:sp>
      <p:sp>
        <p:nvSpPr>
          <p:cNvPr id="17" name="TextBox 16"/>
          <p:cNvSpPr txBox="1"/>
          <p:nvPr/>
        </p:nvSpPr>
        <p:spPr>
          <a:xfrm>
            <a:off x="4786463" y="4736592"/>
            <a:ext cx="6765151" cy="457200"/>
          </a:xfrm>
          <a:prstGeom prst="rect">
            <a:avLst/>
          </a:prstGeom>
          <a:noFill/>
        </p:spPr>
        <p:txBody>
          <a:bodyPr wrap="square" anchor="t" lIns="0" rIns="0" tIns="0" bIns="0">
            <a:spAutoFit/>
          </a:bodyPr>
          <a:lstStyle/>
          <a:p>
            <a:pPr algn="l"/>
            <a:r>
              <a:rPr sz="1400" b="0" i="0">
                <a:solidFill>
                  <a:srgbClr val="666666"/>
                </a:solidFill>
                <a:latin typeface="Segoe UI"/>
              </a:rPr>
              <a:t>Everything cited, and where to find it</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Gaps the authors already acknowledge</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595376"/>
          </a:xfrm>
          <a:prstGeom prst="rect">
            <a:avLst/>
          </a:prstGeom>
          <a:noFill/>
        </p:spPr>
        <p:txBody>
          <a:bodyPr wrap="square" anchor="t" lIns="0" rIns="0" tIns="0" bIns="0">
            <a:spAutoFit/>
          </a:bodyPr>
          <a:lstStyle/>
          <a:p>
            <a:pPr algn="l"/>
            <a:r>
              <a:rPr sz="1600" b="0" i="0">
                <a:solidFill>
                  <a:srgbClr val="666666"/>
                </a:solidFill>
                <a:latin typeface="Segoe UI"/>
              </a:rPr>
              <a:t>Raised by the paper itself. Included for completeness, and to keep them separate from new findings.</a:t>
            </a:r>
          </a:p>
        </p:txBody>
      </p:sp>
      <p:sp>
        <p:nvSpPr>
          <p:cNvPr id="6" name="Oval 5"/>
          <p:cNvSpPr/>
          <p:nvPr/>
        </p:nvSpPr>
        <p:spPr>
          <a:xfrm>
            <a:off x="667512" y="265658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588768"/>
            <a:ext cx="10600639" cy="327660"/>
          </a:xfrm>
          <a:prstGeom prst="rect">
            <a:avLst/>
          </a:prstGeom>
          <a:noFill/>
        </p:spPr>
        <p:txBody>
          <a:bodyPr wrap="square" anchor="t" lIns="0" rIns="0" tIns="0" bIns="0">
            <a:spAutoFit/>
          </a:bodyPr>
          <a:lstStyle/>
          <a:p>
            <a:pPr algn="l"/>
            <a:r>
              <a:rPr sz="1500" b="1" i="0">
                <a:solidFill>
                  <a:srgbClr val="333333"/>
                </a:solidFill>
                <a:latin typeface="Segoe UI"/>
              </a:rPr>
              <a:t>Symbolic links are not generated</a:t>
            </a:r>
          </a:p>
        </p:txBody>
      </p:sp>
      <p:sp>
        <p:nvSpPr>
          <p:cNvPr id="8" name="TextBox 7"/>
          <p:cNvSpPr txBox="1"/>
          <p:nvPr/>
        </p:nvSpPr>
        <p:spPr>
          <a:xfrm>
            <a:off x="950976" y="2916428"/>
            <a:ext cx="10088575" cy="296164"/>
          </a:xfrm>
          <a:prstGeom prst="rect">
            <a:avLst/>
          </a:prstGeom>
          <a:noFill/>
        </p:spPr>
        <p:txBody>
          <a:bodyPr wrap="square" anchor="t" lIns="0" rIns="0" tIns="0" bIns="0">
            <a:spAutoFit/>
          </a:bodyPr>
          <a:lstStyle/>
          <a:p>
            <a:pPr algn="l"/>
            <a:r>
              <a:rPr sz="1300" b="0" i="0">
                <a:solidFill>
                  <a:srgbClr val="666666"/>
                </a:solidFill>
                <a:latin typeface="Segoe UI"/>
              </a:rPr>
              <a:t>Noted in the paper as a possible extension.</a:t>
            </a:r>
          </a:p>
        </p:txBody>
      </p:sp>
      <p:sp>
        <p:nvSpPr>
          <p:cNvPr id="9" name="Oval 8"/>
          <p:cNvSpPr/>
          <p:nvPr/>
        </p:nvSpPr>
        <p:spPr>
          <a:xfrm>
            <a:off x="667512" y="330784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240024"/>
            <a:ext cx="10600639" cy="327660"/>
          </a:xfrm>
          <a:prstGeom prst="rect">
            <a:avLst/>
          </a:prstGeom>
          <a:noFill/>
        </p:spPr>
        <p:txBody>
          <a:bodyPr wrap="square" anchor="t" lIns="0" rIns="0" tIns="0" bIns="0">
            <a:spAutoFit/>
          </a:bodyPr>
          <a:lstStyle/>
          <a:p>
            <a:pPr algn="l"/>
            <a:r>
              <a:rPr sz="1500" b="1" i="0">
                <a:solidFill>
                  <a:srgbClr val="333333"/>
                </a:solidFill>
                <a:latin typeface="Segoe UI"/>
              </a:rPr>
              <a:t>Pipes are not tested</a:t>
            </a:r>
          </a:p>
        </p:txBody>
      </p:sp>
      <p:sp>
        <p:nvSpPr>
          <p:cNvPr id="11" name="TextBox 10"/>
          <p:cNvSpPr txBox="1"/>
          <p:nvPr/>
        </p:nvSpPr>
        <p:spPr>
          <a:xfrm>
            <a:off x="950976" y="3567684"/>
            <a:ext cx="10088575" cy="296164"/>
          </a:xfrm>
          <a:prstGeom prst="rect">
            <a:avLst/>
          </a:prstGeom>
          <a:noFill/>
        </p:spPr>
        <p:txBody>
          <a:bodyPr wrap="square" anchor="t" lIns="0" rIns="0" tIns="0" bIns="0">
            <a:spAutoFit/>
          </a:bodyPr>
          <a:lstStyle/>
          <a:p>
            <a:pPr algn="l"/>
            <a:r>
              <a:rPr sz="1300" b="0" i="0">
                <a:solidFill>
                  <a:srgbClr val="666666"/>
                </a:solidFill>
                <a:latin typeface="Segoe UI"/>
              </a:rPr>
              <a:t>Also noted as a possible extension. Relevant because the main consumer optimises pipelines.</a:t>
            </a:r>
          </a:p>
        </p:txBody>
      </p:sp>
      <p:sp>
        <p:nvSpPr>
          <p:cNvPr id="12" name="Oval 11"/>
          <p:cNvSpPr/>
          <p:nvPr/>
        </p:nvSpPr>
        <p:spPr>
          <a:xfrm>
            <a:off x="667512" y="395909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3891280"/>
            <a:ext cx="10600639" cy="327660"/>
          </a:xfrm>
          <a:prstGeom prst="rect">
            <a:avLst/>
          </a:prstGeom>
          <a:noFill/>
        </p:spPr>
        <p:txBody>
          <a:bodyPr wrap="square" anchor="t" lIns="0" rIns="0" tIns="0" bIns="0">
            <a:spAutoFit/>
          </a:bodyPr>
          <a:lstStyle/>
          <a:p>
            <a:pPr algn="l"/>
            <a:r>
              <a:rPr sz="1500" b="1" i="0">
                <a:solidFill>
                  <a:srgbClr val="333333"/>
                </a:solidFill>
                <a:latin typeface="Segoe UI"/>
              </a:rPr>
              <a:t>Numbers used in tests are only -1, 0 and 1</a:t>
            </a:r>
          </a:p>
        </p:txBody>
      </p:sp>
      <p:sp>
        <p:nvSpPr>
          <p:cNvPr id="14" name="TextBox 13"/>
          <p:cNvSpPr txBox="1"/>
          <p:nvPr/>
        </p:nvSpPr>
        <p:spPr>
          <a:xfrm>
            <a:off x="950976" y="4218940"/>
            <a:ext cx="10088575" cy="296164"/>
          </a:xfrm>
          <a:prstGeom prst="rect">
            <a:avLst/>
          </a:prstGeom>
          <a:noFill/>
        </p:spPr>
        <p:txBody>
          <a:bodyPr wrap="square" anchor="t" lIns="0" rIns="0" tIns="0" bIns="0">
            <a:spAutoFit/>
          </a:bodyPr>
          <a:lstStyle/>
          <a:p>
            <a:pPr algn="l"/>
            <a:r>
              <a:rPr sz="1300" b="0" i="0">
                <a:solidFill>
                  <a:srgbClr val="666666"/>
                </a:solidFill>
                <a:latin typeface="Segoe UI"/>
              </a:rPr>
              <a:t>Stated openly in the paper. Commands sensitive to magnitude are only tested at the smallest values.</a:t>
            </a:r>
          </a:p>
        </p:txBody>
      </p:sp>
      <p:sp>
        <p:nvSpPr>
          <p:cNvPr id="15" name="Oval 14"/>
          <p:cNvSpPr/>
          <p:nvPr/>
        </p:nvSpPr>
        <p:spPr>
          <a:xfrm>
            <a:off x="667512" y="461035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4542536"/>
            <a:ext cx="10600639" cy="327660"/>
          </a:xfrm>
          <a:prstGeom prst="rect">
            <a:avLst/>
          </a:prstGeom>
          <a:noFill/>
        </p:spPr>
        <p:txBody>
          <a:bodyPr wrap="square" anchor="t" lIns="0" rIns="0" tIns="0" bIns="0">
            <a:spAutoFit/>
          </a:bodyPr>
          <a:lstStyle/>
          <a:p>
            <a:pPr algn="l"/>
            <a:r>
              <a:rPr sz="1500" b="1" i="0">
                <a:solidFill>
                  <a:srgbClr val="333333"/>
                </a:solidFill>
                <a:latin typeface="Segoe UI"/>
              </a:rPr>
              <a:t>Environment variables are never varied</a:t>
            </a:r>
          </a:p>
        </p:txBody>
      </p:sp>
      <p:sp>
        <p:nvSpPr>
          <p:cNvPr id="17" name="TextBox 16"/>
          <p:cNvSpPr txBox="1"/>
          <p:nvPr/>
        </p:nvSpPr>
        <p:spPr>
          <a:xfrm>
            <a:off x="950976" y="4870196"/>
            <a:ext cx="10088575" cy="296164"/>
          </a:xfrm>
          <a:prstGeom prst="rect">
            <a:avLst/>
          </a:prstGeom>
          <a:noFill/>
        </p:spPr>
        <p:txBody>
          <a:bodyPr wrap="square" anchor="t" lIns="0" rIns="0" tIns="0" bIns="0">
            <a:spAutoFit/>
          </a:bodyPr>
          <a:lstStyle/>
          <a:p>
            <a:pPr algn="l"/>
            <a:r>
              <a:rPr sz="1300" b="0" i="0">
                <a:solidFill>
                  <a:srgbClr val="666666"/>
                </a:solidFill>
                <a:latin typeface="Segoe UI"/>
              </a:rPr>
              <a:t>One of three limitations the paper lists explicitly.</a:t>
            </a:r>
          </a:p>
        </p:txBody>
      </p:sp>
      <p:sp>
        <p:nvSpPr>
          <p:cNvPr id="18" name="Oval 17"/>
          <p:cNvSpPr/>
          <p:nvPr/>
        </p:nvSpPr>
        <p:spPr>
          <a:xfrm>
            <a:off x="667512" y="526161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TextBox 18"/>
          <p:cNvSpPr txBox="1"/>
          <p:nvPr/>
        </p:nvSpPr>
        <p:spPr>
          <a:xfrm>
            <a:off x="950976" y="5193792"/>
            <a:ext cx="10600639" cy="327660"/>
          </a:xfrm>
          <a:prstGeom prst="rect">
            <a:avLst/>
          </a:prstGeom>
          <a:noFill/>
        </p:spPr>
        <p:txBody>
          <a:bodyPr wrap="square" anchor="t" lIns="0" rIns="0" tIns="0" bIns="0">
            <a:spAutoFit/>
          </a:bodyPr>
          <a:lstStyle/>
          <a:p>
            <a:pPr algn="l"/>
            <a:r>
              <a:rPr sz="1500" b="1" i="0">
                <a:solidFill>
                  <a:srgbClr val="333333"/>
                </a:solidFill>
                <a:latin typeface="Segoe UI"/>
              </a:rPr>
              <a:t>The headline coverage figure combines strong and weak matching</a:t>
            </a:r>
          </a:p>
        </p:txBody>
      </p:sp>
      <p:sp>
        <p:nvSpPr>
          <p:cNvPr id="20" name="TextBox 19"/>
          <p:cNvSpPr txBox="1"/>
          <p:nvPr/>
        </p:nvSpPr>
        <p:spPr>
          <a:xfrm>
            <a:off x="950976" y="5521452"/>
            <a:ext cx="10088575" cy="296164"/>
          </a:xfrm>
          <a:prstGeom prst="rect">
            <a:avLst/>
          </a:prstGeom>
          <a:noFill/>
        </p:spPr>
        <p:txBody>
          <a:bodyPr wrap="square" anchor="t" lIns="0" rIns="0" tIns="0" bIns="0">
            <a:spAutoFit/>
          </a:bodyPr>
          <a:lstStyle/>
          <a:p>
            <a:pPr algn="l"/>
            <a:r>
              <a:rPr sz="1300" b="0" i="0">
                <a:solidFill>
                  <a:srgbClr val="666666"/>
                </a:solidFill>
                <a:latin typeface="Segoe UI"/>
              </a:rPr>
              <a:t>The paper is transparent about this; the combined number is simply the one most likely to be quoted alone.</a:t>
            </a:r>
          </a:p>
        </p:txBody>
      </p:sp>
      <p:sp>
        <p:nvSpPr>
          <p:cNvPr id="21" name="TextBox 20"/>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evaluation_gaps, caruca_white_paper</a:t>
            </a:r>
          </a:p>
        </p:txBody>
      </p:sp>
      <p:sp>
        <p:nvSpPr>
          <p:cNvPr id="22" name="Rectangle 21"/>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4" name="TextBox 23"/>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Remaining new gaps, not shown earlier</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390651"/>
          </a:xfrm>
          <a:prstGeom prst="rect">
            <a:avLst/>
          </a:prstGeom>
          <a:noFill/>
        </p:spPr>
        <p:txBody>
          <a:bodyPr wrap="square" anchor="t" lIns="0" rIns="0" tIns="0" bIns="0">
            <a:spAutoFit/>
          </a:bodyPr>
          <a:lstStyle/>
          <a:p>
            <a:pPr algn="l"/>
            <a:r>
              <a:rPr sz="1900" b="0" i="0">
                <a:solidFill>
                  <a:srgbClr val="666666"/>
                </a:solidFill>
                <a:latin typeface="Segoe UI"/>
              </a:rPr>
              <a:t>The rest of the issues that do not appear to be discussed in the paper.</a:t>
            </a:r>
          </a:p>
        </p:txBody>
      </p:sp>
      <p:sp>
        <p:nvSpPr>
          <p:cNvPr id="6" name="Oval 5"/>
          <p:cNvSpPr/>
          <p:nvPr/>
        </p:nvSpPr>
        <p:spPr>
          <a:xfrm>
            <a:off x="667512" y="2475483"/>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384044"/>
            <a:ext cx="10600639" cy="374904"/>
          </a:xfrm>
          <a:prstGeom prst="rect">
            <a:avLst/>
          </a:prstGeom>
          <a:noFill/>
        </p:spPr>
        <p:txBody>
          <a:bodyPr wrap="square" anchor="t" lIns="0" rIns="0" tIns="0" bIns="0">
            <a:spAutoFit/>
          </a:bodyPr>
          <a:lstStyle/>
          <a:p>
            <a:pPr algn="l"/>
            <a:r>
              <a:rPr sz="1800" b="1" i="0">
                <a:solidFill>
                  <a:srgbClr val="333333"/>
                </a:solidFill>
                <a:latin typeface="Segoe UI"/>
              </a:rPr>
              <a:t>Parallel safety is inferred from sequential runs</a:t>
            </a:r>
          </a:p>
        </p:txBody>
      </p:sp>
      <p:sp>
        <p:nvSpPr>
          <p:cNvPr id="8" name="TextBox 7"/>
          <p:cNvSpPr txBox="1"/>
          <p:nvPr/>
        </p:nvSpPr>
        <p:spPr>
          <a:xfrm>
            <a:off x="950976" y="2758948"/>
            <a:ext cx="10088575" cy="327660"/>
          </a:xfrm>
          <a:prstGeom prst="rect">
            <a:avLst/>
          </a:prstGeom>
          <a:noFill/>
        </p:spPr>
        <p:txBody>
          <a:bodyPr wrap="square" anchor="t" lIns="0" rIns="0" tIns="0" bIns="0">
            <a:spAutoFit/>
          </a:bodyPr>
          <a:lstStyle/>
          <a:p>
            <a:pPr algn="l"/>
            <a:r>
              <a:rPr sz="1500" b="0" i="0">
                <a:solidFill>
                  <a:srgbClr val="666666"/>
                </a:solidFill>
                <a:latin typeface="Segoe UI"/>
              </a:rPr>
              <a:t>Commands are never actually run at the same time, which is how the main consumer would run them.</a:t>
            </a:r>
          </a:p>
        </p:txBody>
      </p:sp>
      <p:sp>
        <p:nvSpPr>
          <p:cNvPr id="9" name="Oval 8"/>
          <p:cNvSpPr/>
          <p:nvPr/>
        </p:nvSpPr>
        <p:spPr>
          <a:xfrm>
            <a:off x="667512" y="3278631"/>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187192"/>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 tooling is Linux-only, while the motivation cites other systems</a:t>
            </a:r>
          </a:p>
        </p:txBody>
      </p:sp>
      <p:sp>
        <p:nvSpPr>
          <p:cNvPr id="11" name="TextBox 10"/>
          <p:cNvSpPr txBox="1"/>
          <p:nvPr/>
        </p:nvSpPr>
        <p:spPr>
          <a:xfrm>
            <a:off x="950976" y="3562096"/>
            <a:ext cx="10088575" cy="327660"/>
          </a:xfrm>
          <a:prstGeom prst="rect">
            <a:avLst/>
          </a:prstGeom>
          <a:noFill/>
        </p:spPr>
        <p:txBody>
          <a:bodyPr wrap="square" anchor="t" lIns="0" rIns="0" tIns="0" bIns="0">
            <a:spAutoFit/>
          </a:bodyPr>
          <a:lstStyle/>
          <a:p>
            <a:pPr algn="l"/>
            <a:r>
              <a:rPr sz="1500" b="0" i="0">
                <a:solidFill>
                  <a:srgbClr val="666666"/>
                </a:solidFill>
                <a:latin typeface="Segoe UI"/>
              </a:rPr>
              <a:t>The paper motivates the problem partly with differences across systems, but tests only on Linux.</a:t>
            </a:r>
          </a:p>
        </p:txBody>
      </p:sp>
      <p:sp>
        <p:nvSpPr>
          <p:cNvPr id="12" name="Oval 11"/>
          <p:cNvSpPr/>
          <p:nvPr/>
        </p:nvSpPr>
        <p:spPr>
          <a:xfrm>
            <a:off x="667512" y="408178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3990340"/>
            <a:ext cx="10600639" cy="374904"/>
          </a:xfrm>
          <a:prstGeom prst="rect">
            <a:avLst/>
          </a:prstGeom>
          <a:noFill/>
        </p:spPr>
        <p:txBody>
          <a:bodyPr wrap="square" anchor="t" lIns="0" rIns="0" tIns="0" bIns="0">
            <a:spAutoFit/>
          </a:bodyPr>
          <a:lstStyle/>
          <a:p>
            <a:pPr algn="l"/>
            <a:r>
              <a:rPr sz="1800" b="1" i="0">
                <a:solidFill>
                  <a:srgbClr val="333333"/>
                </a:solidFill>
                <a:latin typeface="Segoe UI"/>
              </a:rPr>
              <a:t>Real-world usage is sampled only from shell scripts on GitHub</a:t>
            </a:r>
          </a:p>
        </p:txBody>
      </p:sp>
      <p:sp>
        <p:nvSpPr>
          <p:cNvPr id="14" name="TextBox 13"/>
          <p:cNvSpPr txBox="1"/>
          <p:nvPr/>
        </p:nvSpPr>
        <p:spPr>
          <a:xfrm>
            <a:off x="950976" y="4365244"/>
            <a:ext cx="10088575" cy="327660"/>
          </a:xfrm>
          <a:prstGeom prst="rect">
            <a:avLst/>
          </a:prstGeom>
          <a:noFill/>
        </p:spPr>
        <p:txBody>
          <a:bodyPr wrap="square" anchor="t" lIns="0" rIns="0" tIns="0" bIns="0">
            <a:spAutoFit/>
          </a:bodyPr>
          <a:lstStyle/>
          <a:p>
            <a:pPr algn="l"/>
            <a:r>
              <a:rPr sz="1500" b="0" i="0">
                <a:solidFill>
                  <a:srgbClr val="666666"/>
                </a:solidFill>
                <a:latin typeface="Segoe UI"/>
              </a:rPr>
              <a:t>Command usage in build files, container definitions and scheduled jobs is not represented.</a:t>
            </a:r>
          </a:p>
        </p:txBody>
      </p:sp>
      <p:sp>
        <p:nvSpPr>
          <p:cNvPr id="15" name="Oval 14"/>
          <p:cNvSpPr/>
          <p:nvPr/>
        </p:nvSpPr>
        <p:spPr>
          <a:xfrm>
            <a:off x="667512" y="488492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4793488"/>
            <a:ext cx="10600639" cy="374904"/>
          </a:xfrm>
          <a:prstGeom prst="rect">
            <a:avLst/>
          </a:prstGeom>
          <a:noFill/>
        </p:spPr>
        <p:txBody>
          <a:bodyPr wrap="square" anchor="t" lIns="0" rIns="0" tIns="0" bIns="0">
            <a:spAutoFit/>
          </a:bodyPr>
          <a:lstStyle/>
          <a:p>
            <a:pPr algn="l"/>
            <a:r>
              <a:rPr sz="1800" b="1" i="0">
                <a:solidFill>
                  <a:srgbClr val="333333"/>
                </a:solidFill>
                <a:latin typeface="Segoe UI"/>
              </a:rPr>
              <a:t>Test file contents cover five fixed types</a:t>
            </a:r>
          </a:p>
        </p:txBody>
      </p:sp>
      <p:sp>
        <p:nvSpPr>
          <p:cNvPr id="17" name="TextBox 16"/>
          <p:cNvSpPr txBox="1"/>
          <p:nvPr/>
        </p:nvSpPr>
        <p:spPr>
          <a:xfrm>
            <a:off x="950976" y="5168392"/>
            <a:ext cx="10088575" cy="327660"/>
          </a:xfrm>
          <a:prstGeom prst="rect">
            <a:avLst/>
          </a:prstGeom>
          <a:noFill/>
        </p:spPr>
        <p:txBody>
          <a:bodyPr wrap="square" anchor="t" lIns="0" rIns="0" tIns="0" bIns="0">
            <a:spAutoFit/>
          </a:bodyPr>
          <a:lstStyle/>
          <a:p>
            <a:pPr algn="l"/>
            <a:r>
              <a:rPr sz="1500" b="0" i="0">
                <a:solidFill>
                  <a:srgbClr val="666666"/>
                </a:solidFill>
                <a:latin typeface="Segoe UI"/>
              </a:rPr>
              <a:t>No spreadsheet, document or archive formats, and filenames rarely carry meaningful extensions.</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evaluation_gaps</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How correctness gets compared</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365760"/>
          </a:xfrm>
          <a:prstGeom prst="rect">
            <a:avLst/>
          </a:prstGeom>
          <a:noFill/>
        </p:spPr>
        <p:txBody>
          <a:bodyPr wrap="square" anchor="t" lIns="0" rIns="0" tIns="0" bIns="0">
            <a:spAutoFit/>
          </a:bodyPr>
          <a:lstStyle/>
          <a:p>
            <a:pPr algn="l"/>
            <a:r>
              <a:rPr sz="1600" b="0" i="0">
                <a:solidFill>
                  <a:srgbClr val="666666"/>
                </a:solidFill>
                <a:latin typeface="Segoe UI"/>
              </a:rPr>
              <a:t>Three different methods. They measure different things and are not interchangeable.</a:t>
            </a:r>
          </a:p>
        </p:txBody>
      </p:sp>
      <p:sp>
        <p:nvSpPr>
          <p:cNvPr id="6" name="TextBox 5"/>
          <p:cNvSpPr txBox="1"/>
          <p:nvPr/>
        </p:nvSpPr>
        <p:spPr>
          <a:xfrm>
            <a:off x="640080" y="2212848"/>
            <a:ext cx="3928152" cy="457200"/>
          </a:xfrm>
          <a:prstGeom prst="rect">
            <a:avLst/>
          </a:prstGeom>
          <a:noFill/>
        </p:spPr>
        <p:txBody>
          <a:bodyPr wrap="square" anchor="t" lIns="0" rIns="0" tIns="0" bIns="0">
            <a:spAutoFit/>
          </a:bodyPr>
          <a:lstStyle/>
          <a:p>
            <a:pPr algn="l"/>
            <a:r>
              <a:rPr sz="1400" b="1" i="0">
                <a:solidFill>
                  <a:srgbClr val="333333"/>
                </a:solidFill>
                <a:latin typeface="Segoe UI"/>
              </a:rPr>
              <a:t>Description comparison</a:t>
            </a:r>
          </a:p>
        </p:txBody>
      </p:sp>
      <p:sp>
        <p:nvSpPr>
          <p:cNvPr id="7" name="TextBox 6"/>
          <p:cNvSpPr txBox="1"/>
          <p:nvPr/>
        </p:nvSpPr>
        <p:spPr>
          <a:xfrm>
            <a:off x="4786463" y="2212848"/>
            <a:ext cx="6765151" cy="457200"/>
          </a:xfrm>
          <a:prstGeom prst="rect">
            <a:avLst/>
          </a:prstGeom>
          <a:noFill/>
        </p:spPr>
        <p:txBody>
          <a:bodyPr wrap="square" anchor="t" lIns="0" rIns="0" tIns="0" bIns="0">
            <a:spAutoFit/>
          </a:bodyPr>
          <a:lstStyle/>
          <a:p>
            <a:pPr algn="l"/>
            <a:r>
              <a:rPr sz="1400" b="0" i="0">
                <a:solidFill>
                  <a:srgbClr val="666666"/>
                </a:solidFill>
                <a:latin typeface="Segoe UI"/>
              </a:rPr>
              <a:t>Option-by-option diff against verified answers. What step one uses. Reuses Caruca's own script.</a:t>
            </a:r>
          </a:p>
        </p:txBody>
      </p:sp>
      <p:sp>
        <p:nvSpPr>
          <p:cNvPr id="8" name="TextBox 7"/>
          <p:cNvSpPr txBox="1"/>
          <p:nvPr/>
        </p:nvSpPr>
        <p:spPr>
          <a:xfrm>
            <a:off x="640080" y="2990088"/>
            <a:ext cx="3928152" cy="457200"/>
          </a:xfrm>
          <a:prstGeom prst="rect">
            <a:avLst/>
          </a:prstGeom>
          <a:noFill/>
        </p:spPr>
        <p:txBody>
          <a:bodyPr wrap="square" anchor="t" lIns="0" rIns="0" tIns="0" bIns="0">
            <a:spAutoFit/>
          </a:bodyPr>
          <a:lstStyle/>
          <a:p>
            <a:pPr algn="l"/>
            <a:r>
              <a:rPr sz="1400" b="1" i="0">
                <a:solidFill>
                  <a:srgbClr val="333333"/>
                </a:solidFill>
                <a:latin typeface="Segoe UI"/>
              </a:rPr>
              <a:t>Specification comparison</a:t>
            </a:r>
          </a:p>
        </p:txBody>
      </p:sp>
      <p:sp>
        <p:nvSpPr>
          <p:cNvPr id="9" name="TextBox 8"/>
          <p:cNvSpPr txBox="1"/>
          <p:nvPr/>
        </p:nvSpPr>
        <p:spPr>
          <a:xfrm>
            <a:off x="4786463" y="2990088"/>
            <a:ext cx="6765151" cy="457200"/>
          </a:xfrm>
          <a:prstGeom prst="rect">
            <a:avLst/>
          </a:prstGeom>
          <a:noFill/>
        </p:spPr>
        <p:txBody>
          <a:bodyPr wrap="square" anchor="t" lIns="0" rIns="0" tIns="0" bIns="0">
            <a:spAutoFit/>
          </a:bodyPr>
          <a:lstStyle/>
          <a:p>
            <a:pPr algn="l"/>
            <a:r>
              <a:rPr sz="1400" b="0" i="0">
                <a:solidFill>
                  <a:srgbClr val="666666"/>
                </a:solidFill>
                <a:latin typeface="Segoe UI"/>
              </a:rPr>
              <a:t>Compares the final specifications after running the commands. Heavier; needs the sandbox.</a:t>
            </a:r>
          </a:p>
        </p:txBody>
      </p:sp>
      <p:sp>
        <p:nvSpPr>
          <p:cNvPr id="10" name="TextBox 9"/>
          <p:cNvSpPr txBox="1"/>
          <p:nvPr/>
        </p:nvSpPr>
        <p:spPr>
          <a:xfrm>
            <a:off x="640080" y="3767328"/>
            <a:ext cx="3928152" cy="457200"/>
          </a:xfrm>
          <a:prstGeom prst="rect">
            <a:avLst/>
          </a:prstGeom>
          <a:noFill/>
        </p:spPr>
        <p:txBody>
          <a:bodyPr wrap="square" anchor="t" lIns="0" rIns="0" tIns="0" bIns="0">
            <a:spAutoFit/>
          </a:bodyPr>
          <a:lstStyle/>
          <a:p>
            <a:pPr algn="l"/>
            <a:r>
              <a:rPr sz="1400" b="1" i="0">
                <a:solidFill>
                  <a:srgbClr val="333333"/>
                </a:solidFill>
                <a:latin typeface="Segoe UI"/>
              </a:rPr>
              <a:t>Running real test suites</a:t>
            </a:r>
          </a:p>
        </p:txBody>
      </p:sp>
      <p:sp>
        <p:nvSpPr>
          <p:cNvPr id="11" name="TextBox 10"/>
          <p:cNvSpPr txBox="1"/>
          <p:nvPr/>
        </p:nvSpPr>
        <p:spPr>
          <a:xfrm>
            <a:off x="4786463" y="3767328"/>
            <a:ext cx="6765151" cy="457200"/>
          </a:xfrm>
          <a:prstGeom prst="rect">
            <a:avLst/>
          </a:prstGeom>
          <a:noFill/>
        </p:spPr>
        <p:txBody>
          <a:bodyPr wrap="square" anchor="t" lIns="0" rIns="0" tIns="0" bIns="0">
            <a:spAutoFit/>
          </a:bodyPr>
          <a:lstStyle/>
          <a:p>
            <a:pPr algn="l"/>
            <a:r>
              <a:rPr sz="1400" b="0" i="0">
                <a:solidFill>
                  <a:srgbClr val="666666"/>
                </a:solidFill>
                <a:latin typeface="Segoe UI"/>
              </a:rPr>
              <a:t>What the paper's own headline quality figures use: the consuming tools' actual tests are re-run. Heaviest, and deferred.</a:t>
            </a:r>
          </a:p>
        </p:txBody>
      </p:sp>
      <p:sp>
        <p:nvSpPr>
          <p:cNvPr id="12" name="TextBox 11"/>
          <p:cNvSpPr txBox="1"/>
          <p:nvPr/>
        </p:nvSpPr>
        <p:spPr>
          <a:xfrm>
            <a:off x="640080" y="4544568"/>
            <a:ext cx="3928152" cy="457200"/>
          </a:xfrm>
          <a:prstGeom prst="rect">
            <a:avLst/>
          </a:prstGeom>
          <a:noFill/>
        </p:spPr>
        <p:txBody>
          <a:bodyPr wrap="square" anchor="t" lIns="0" rIns="0" tIns="0" bIns="0">
            <a:spAutoFit/>
          </a:bodyPr>
          <a:lstStyle/>
          <a:p>
            <a:pPr algn="l"/>
            <a:r>
              <a:rPr sz="1400" b="1" i="0">
                <a:solidFill>
                  <a:srgbClr val="333333"/>
                </a:solidFill>
                <a:latin typeface="Segoe UI"/>
              </a:rPr>
              <a:t>Why it matters</a:t>
            </a:r>
          </a:p>
        </p:txBody>
      </p:sp>
      <p:sp>
        <p:nvSpPr>
          <p:cNvPr id="13" name="TextBox 12"/>
          <p:cNvSpPr txBox="1"/>
          <p:nvPr/>
        </p:nvSpPr>
        <p:spPr>
          <a:xfrm>
            <a:off x="4786463" y="4544568"/>
            <a:ext cx="6765151" cy="457200"/>
          </a:xfrm>
          <a:prstGeom prst="rect">
            <a:avLst/>
          </a:prstGeom>
          <a:noFill/>
        </p:spPr>
        <p:txBody>
          <a:bodyPr wrap="square" anchor="t" lIns="0" rIns="0" tIns="0" bIns="0">
            <a:spAutoFit/>
          </a:bodyPr>
          <a:lstStyle/>
          <a:p>
            <a:pPr algn="l"/>
            <a:r>
              <a:rPr sz="1400" b="0" i="0">
                <a:solidFill>
                  <a:srgbClr val="666666"/>
                </a:solidFill>
                <a:latin typeface="Segoe UI"/>
              </a:rPr>
              <a:t>Reporting a lighter method's number as if it were the heaviest method's would not survive review.</a:t>
            </a:r>
          </a:p>
        </p:txBody>
      </p:sp>
      <p:sp>
        <p:nvSpPr>
          <p:cNvPr id="14" name="TextBox 13"/>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component_functionality</a:t>
            </a:r>
          </a:p>
        </p:txBody>
      </p:sp>
      <p:sp>
        <p:nvSpPr>
          <p:cNvPr id="15" name="Rectangle 14"/>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7" name="TextBox 16"/>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Rough effort estimate for step one</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689863"/>
          </a:xfrm>
          <a:prstGeom prst="rect">
            <a:avLst/>
          </a:prstGeom>
          <a:noFill/>
        </p:spPr>
        <p:txBody>
          <a:bodyPr wrap="square" anchor="t" lIns="0" rIns="0" tIns="0" bIns="0">
            <a:spAutoFit/>
          </a:bodyPr>
          <a:lstStyle/>
          <a:p>
            <a:pPr algn="l"/>
            <a:r>
              <a:rPr sz="1900" b="0" i="0">
                <a:solidFill>
                  <a:srgbClr val="666666"/>
                </a:solidFill>
                <a:latin typeface="Segoe UI"/>
              </a:rPr>
              <a:t>Kept out of the main deck deliberately: these are estimates before any code exists.</a:t>
            </a:r>
          </a:p>
        </p:txBody>
      </p:sp>
      <p:sp>
        <p:nvSpPr>
          <p:cNvPr id="6" name="Oval 5"/>
          <p:cNvSpPr/>
          <p:nvPr/>
        </p:nvSpPr>
        <p:spPr>
          <a:xfrm>
            <a:off x="667512" y="277469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683256"/>
            <a:ext cx="10600639" cy="374904"/>
          </a:xfrm>
          <a:prstGeom prst="rect">
            <a:avLst/>
          </a:prstGeom>
          <a:noFill/>
        </p:spPr>
        <p:txBody>
          <a:bodyPr wrap="square" anchor="t" lIns="0" rIns="0" tIns="0" bIns="0">
            <a:spAutoFit/>
          </a:bodyPr>
          <a:lstStyle/>
          <a:p>
            <a:pPr algn="l"/>
            <a:r>
              <a:rPr sz="1800" b="1" i="0">
                <a:solidFill>
                  <a:srgbClr val="333333"/>
                </a:solidFill>
                <a:latin typeface="Segoe UI"/>
              </a:rPr>
              <a:t>Repair and measure the existing AI step — a few days</a:t>
            </a:r>
          </a:p>
        </p:txBody>
      </p:sp>
      <p:sp>
        <p:nvSpPr>
          <p:cNvPr id="8" name="TextBox 7"/>
          <p:cNvSpPr txBox="1"/>
          <p:nvPr/>
        </p:nvSpPr>
        <p:spPr>
          <a:xfrm>
            <a:off x="950976" y="3058160"/>
            <a:ext cx="10088575" cy="327660"/>
          </a:xfrm>
          <a:prstGeom prst="rect">
            <a:avLst/>
          </a:prstGeom>
          <a:noFill/>
        </p:spPr>
        <p:txBody>
          <a:bodyPr wrap="square" anchor="t" lIns="0" rIns="0" tIns="0" bIns="0">
            <a:spAutoFit/>
          </a:bodyPr>
          <a:lstStyle/>
          <a:p>
            <a:pPr algn="l"/>
            <a:r>
              <a:rPr sz="1500" b="0" i="0">
                <a:solidFill>
                  <a:srgbClr val="666666"/>
                </a:solidFill>
                <a:latin typeface="Segoe UI"/>
              </a:rPr>
              <a:t>Mostly a library migration with known replacements, plus recording what each run costs.</a:t>
            </a:r>
          </a:p>
        </p:txBody>
      </p:sp>
      <p:sp>
        <p:nvSpPr>
          <p:cNvPr id="9" name="Oval 8"/>
          <p:cNvSpPr/>
          <p:nvPr/>
        </p:nvSpPr>
        <p:spPr>
          <a:xfrm>
            <a:off x="667512" y="357784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486404"/>
            <a:ext cx="10600639" cy="374904"/>
          </a:xfrm>
          <a:prstGeom prst="rect">
            <a:avLst/>
          </a:prstGeom>
          <a:noFill/>
        </p:spPr>
        <p:txBody>
          <a:bodyPr wrap="square" anchor="t" lIns="0" rIns="0" tIns="0" bIns="0">
            <a:spAutoFit/>
          </a:bodyPr>
          <a:lstStyle/>
          <a:p>
            <a:pPr algn="l"/>
            <a:r>
              <a:rPr sz="1800" b="1" i="0">
                <a:solidFill>
                  <a:srgbClr val="333333"/>
                </a:solidFill>
                <a:latin typeface="Segoe UI"/>
              </a:rPr>
              <a:t>Build the simple prompt version — a few days</a:t>
            </a:r>
          </a:p>
        </p:txBody>
      </p:sp>
      <p:sp>
        <p:nvSpPr>
          <p:cNvPr id="11" name="TextBox 10"/>
          <p:cNvSpPr txBox="1"/>
          <p:nvPr/>
        </p:nvSpPr>
        <p:spPr>
          <a:xfrm>
            <a:off x="950976" y="3861308"/>
            <a:ext cx="10088575" cy="327660"/>
          </a:xfrm>
          <a:prstGeom prst="rect">
            <a:avLst/>
          </a:prstGeom>
          <a:noFill/>
        </p:spPr>
        <p:txBody>
          <a:bodyPr wrap="square" anchor="t" lIns="0" rIns="0" tIns="0" bIns="0">
            <a:spAutoFit/>
          </a:bodyPr>
          <a:lstStyle/>
          <a:p>
            <a:pPr algn="l"/>
            <a:r>
              <a:rPr sz="1500" b="0" i="0">
                <a:solidFill>
                  <a:srgbClr val="666666"/>
                </a:solidFill>
                <a:latin typeface="Segoe UI"/>
              </a:rPr>
              <a:t>Small by design. Most of the effort is matching the existing output format exactly.</a:t>
            </a:r>
          </a:p>
        </p:txBody>
      </p:sp>
      <p:sp>
        <p:nvSpPr>
          <p:cNvPr id="12" name="Oval 11"/>
          <p:cNvSpPr/>
          <p:nvPr/>
        </p:nvSpPr>
        <p:spPr>
          <a:xfrm>
            <a:off x="667512" y="438099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289552"/>
            <a:ext cx="10600639" cy="374904"/>
          </a:xfrm>
          <a:prstGeom prst="rect">
            <a:avLst/>
          </a:prstGeom>
          <a:noFill/>
        </p:spPr>
        <p:txBody>
          <a:bodyPr wrap="square" anchor="t" lIns="0" rIns="0" tIns="0" bIns="0">
            <a:spAutoFit/>
          </a:bodyPr>
          <a:lstStyle/>
          <a:p>
            <a:pPr algn="l"/>
            <a:r>
              <a:rPr sz="1800" b="1" i="0">
                <a:solidFill>
                  <a:srgbClr val="333333"/>
                </a:solidFill>
                <a:latin typeface="Segoe UI"/>
              </a:rPr>
              <a:t>Compare them head to head — one to two weeks</a:t>
            </a:r>
          </a:p>
        </p:txBody>
      </p:sp>
      <p:sp>
        <p:nvSpPr>
          <p:cNvPr id="14" name="TextBox 13"/>
          <p:cNvSpPr txBox="1"/>
          <p:nvPr/>
        </p:nvSpPr>
        <p:spPr>
          <a:xfrm>
            <a:off x="950976" y="4664456"/>
            <a:ext cx="10088575" cy="327660"/>
          </a:xfrm>
          <a:prstGeom prst="rect">
            <a:avLst/>
          </a:prstGeom>
          <a:noFill/>
        </p:spPr>
        <p:txBody>
          <a:bodyPr wrap="square" anchor="t" lIns="0" rIns="0" tIns="0" bIns="0">
            <a:spAutoFit/>
          </a:bodyPr>
          <a:lstStyle/>
          <a:p>
            <a:pPr algn="l"/>
            <a:r>
              <a:rPr sz="1500" b="0" i="0">
                <a:solidFill>
                  <a:srgbClr val="666666"/>
                </a:solidFill>
                <a:latin typeface="Segoe UI"/>
              </a:rPr>
              <a:t>Includes fixing a counting bug in the existing comparison script and running repeats.</a:t>
            </a:r>
          </a:p>
        </p:txBody>
      </p:sp>
      <p:sp>
        <p:nvSpPr>
          <p:cNvPr id="15" name="Oval 14"/>
          <p:cNvSpPr/>
          <p:nvPr/>
        </p:nvSpPr>
        <p:spPr>
          <a:xfrm>
            <a:off x="667512" y="518414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092700"/>
            <a:ext cx="10600639" cy="374904"/>
          </a:xfrm>
          <a:prstGeom prst="rect">
            <a:avLst/>
          </a:prstGeom>
          <a:noFill/>
        </p:spPr>
        <p:txBody>
          <a:bodyPr wrap="square" anchor="t" lIns="0" rIns="0" tIns="0" bIns="0">
            <a:spAutoFit/>
          </a:bodyPr>
          <a:lstStyle/>
          <a:p>
            <a:pPr algn="l"/>
            <a:r>
              <a:rPr sz="1800" b="1" i="0">
                <a:solidFill>
                  <a:srgbClr val="333333"/>
                </a:solidFill>
                <a:latin typeface="Segoe UI"/>
              </a:rPr>
              <a:t>Biggest uncertainty is not in step one at all</a:t>
            </a:r>
          </a:p>
        </p:txBody>
      </p:sp>
      <p:sp>
        <p:nvSpPr>
          <p:cNvPr id="17" name="TextBox 16"/>
          <p:cNvSpPr txBox="1"/>
          <p:nvPr/>
        </p:nvSpPr>
        <p:spPr>
          <a:xfrm>
            <a:off x="950976" y="5467604"/>
            <a:ext cx="10088575" cy="327660"/>
          </a:xfrm>
          <a:prstGeom prst="rect">
            <a:avLst/>
          </a:prstGeom>
          <a:noFill/>
        </p:spPr>
        <p:txBody>
          <a:bodyPr wrap="square" anchor="t" lIns="0" rIns="0" tIns="0" bIns="0">
            <a:spAutoFit/>
          </a:bodyPr>
          <a:lstStyle/>
          <a:p>
            <a:pPr algn="l"/>
            <a:r>
              <a:rPr sz="1500" b="0" i="0">
                <a:solidFill>
                  <a:srgbClr val="666666"/>
                </a:solidFill>
                <a:latin typeface="Segoe UI"/>
              </a:rPr>
              <a:t>It is the choice of technology for safely running destructive commands, which step one avoids.</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roadmap</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Source documents</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365760"/>
          </a:xfrm>
          <a:prstGeom prst="rect">
            <a:avLst/>
          </a:prstGeom>
          <a:noFill/>
        </p:spPr>
        <p:txBody>
          <a:bodyPr wrap="square" anchor="t" lIns="0" rIns="0" tIns="0" bIns="0">
            <a:spAutoFit/>
          </a:bodyPr>
          <a:lstStyle/>
          <a:p>
            <a:pPr algn="l"/>
            <a:r>
              <a:rPr sz="1600" b="0" i="0">
                <a:solidFill>
                  <a:srgbClr val="666666"/>
                </a:solidFill>
                <a:latin typeface="Segoe UI"/>
              </a:rPr>
              <a:t>Supplied as PDFs alongside this deck.</a:t>
            </a:r>
          </a:p>
        </p:txBody>
      </p:sp>
      <p:sp>
        <p:nvSpPr>
          <p:cNvPr id="6" name="TextBox 5"/>
          <p:cNvSpPr txBox="1"/>
          <p:nvPr/>
        </p:nvSpPr>
        <p:spPr>
          <a:xfrm>
            <a:off x="640080" y="2212848"/>
            <a:ext cx="3928152" cy="457200"/>
          </a:xfrm>
          <a:prstGeom prst="rect">
            <a:avLst/>
          </a:prstGeom>
          <a:noFill/>
        </p:spPr>
        <p:txBody>
          <a:bodyPr wrap="square" anchor="t" lIns="0" rIns="0" tIns="0" bIns="0">
            <a:spAutoFit/>
          </a:bodyPr>
          <a:lstStyle/>
          <a:p>
            <a:pPr algn="l"/>
            <a:r>
              <a:rPr sz="1400" b="1" i="0">
                <a:solidFill>
                  <a:srgbClr val="333333"/>
                </a:solidFill>
                <a:latin typeface="Segoe UI"/>
              </a:rPr>
              <a:t>master_idea</a:t>
            </a:r>
          </a:p>
        </p:txBody>
      </p:sp>
      <p:sp>
        <p:nvSpPr>
          <p:cNvPr id="7" name="TextBox 6"/>
          <p:cNvSpPr txBox="1"/>
          <p:nvPr/>
        </p:nvSpPr>
        <p:spPr>
          <a:xfrm>
            <a:off x="4786463" y="2212848"/>
            <a:ext cx="6765151" cy="457200"/>
          </a:xfrm>
          <a:prstGeom prst="rect">
            <a:avLst/>
          </a:prstGeom>
          <a:noFill/>
        </p:spPr>
        <p:txBody>
          <a:bodyPr wrap="square" anchor="t" lIns="0" rIns="0" tIns="0" bIns="0">
            <a:spAutoFit/>
          </a:bodyPr>
          <a:lstStyle/>
          <a:p>
            <a:pPr algn="l"/>
            <a:r>
              <a:rPr sz="1400" b="0" i="0">
                <a:solidFill>
                  <a:srgbClr val="666666"/>
                </a:solidFill>
                <a:latin typeface="Segoe UI"/>
              </a:rPr>
              <a:t>Goal, stakeholders, the six measures, and the components to build</a:t>
            </a:r>
          </a:p>
        </p:txBody>
      </p:sp>
      <p:sp>
        <p:nvSpPr>
          <p:cNvPr id="8" name="TextBox 7"/>
          <p:cNvSpPr txBox="1"/>
          <p:nvPr/>
        </p:nvSpPr>
        <p:spPr>
          <a:xfrm>
            <a:off x="640080" y="2724912"/>
            <a:ext cx="3928152" cy="457200"/>
          </a:xfrm>
          <a:prstGeom prst="rect">
            <a:avLst/>
          </a:prstGeom>
          <a:noFill/>
        </p:spPr>
        <p:txBody>
          <a:bodyPr wrap="square" anchor="t" lIns="0" rIns="0" tIns="0" bIns="0">
            <a:spAutoFit/>
          </a:bodyPr>
          <a:lstStyle/>
          <a:p>
            <a:pPr algn="l"/>
            <a:r>
              <a:rPr sz="1400" b="1" i="0">
                <a:solidFill>
                  <a:srgbClr val="333333"/>
                </a:solidFill>
                <a:latin typeface="Segoe UI"/>
              </a:rPr>
              <a:t>system_architecture</a:t>
            </a:r>
          </a:p>
        </p:txBody>
      </p:sp>
      <p:sp>
        <p:nvSpPr>
          <p:cNvPr id="9" name="TextBox 8"/>
          <p:cNvSpPr txBox="1"/>
          <p:nvPr/>
        </p:nvSpPr>
        <p:spPr>
          <a:xfrm>
            <a:off x="4786463" y="2724912"/>
            <a:ext cx="6765151" cy="457200"/>
          </a:xfrm>
          <a:prstGeom prst="rect">
            <a:avLst/>
          </a:prstGeom>
          <a:noFill/>
        </p:spPr>
        <p:txBody>
          <a:bodyPr wrap="square" anchor="t" lIns="0" rIns="0" tIns="0" bIns="0">
            <a:spAutoFit/>
          </a:bodyPr>
          <a:lstStyle/>
          <a:p>
            <a:pPr algn="l"/>
            <a:r>
              <a:rPr sz="1400" b="0" i="0">
                <a:solidFill>
                  <a:srgbClr val="666666"/>
                </a:solidFill>
                <a:latin typeface="Segoe UI"/>
              </a:rPr>
              <a:t>How the existing and new pieces fit together, with the full diagram</a:t>
            </a:r>
          </a:p>
        </p:txBody>
      </p:sp>
      <p:sp>
        <p:nvSpPr>
          <p:cNvPr id="10" name="TextBox 9"/>
          <p:cNvSpPr txBox="1"/>
          <p:nvPr/>
        </p:nvSpPr>
        <p:spPr>
          <a:xfrm>
            <a:off x="640080" y="3236976"/>
            <a:ext cx="3928152" cy="457200"/>
          </a:xfrm>
          <a:prstGeom prst="rect">
            <a:avLst/>
          </a:prstGeom>
          <a:noFill/>
        </p:spPr>
        <p:txBody>
          <a:bodyPr wrap="square" anchor="t" lIns="0" rIns="0" tIns="0" bIns="0">
            <a:spAutoFit/>
          </a:bodyPr>
          <a:lstStyle/>
          <a:p>
            <a:pPr algn="l"/>
            <a:r>
              <a:rPr sz="1400" b="1" i="0">
                <a:solidFill>
                  <a:srgbClr val="333333"/>
                </a:solidFill>
                <a:latin typeface="Segoe UI"/>
              </a:rPr>
              <a:t>roadmap</a:t>
            </a:r>
          </a:p>
        </p:txBody>
      </p:sp>
      <p:sp>
        <p:nvSpPr>
          <p:cNvPr id="11" name="TextBox 10"/>
          <p:cNvSpPr txBox="1"/>
          <p:nvPr/>
        </p:nvSpPr>
        <p:spPr>
          <a:xfrm>
            <a:off x="4786463" y="3236976"/>
            <a:ext cx="6765151" cy="457200"/>
          </a:xfrm>
          <a:prstGeom prst="rect">
            <a:avLst/>
          </a:prstGeom>
          <a:noFill/>
        </p:spPr>
        <p:txBody>
          <a:bodyPr wrap="square" anchor="t" lIns="0" rIns="0" tIns="0" bIns="0">
            <a:spAutoFit/>
          </a:bodyPr>
          <a:lstStyle/>
          <a:p>
            <a:pPr algn="l"/>
            <a:r>
              <a:rPr sz="1400" b="0" i="0">
                <a:solidFill>
                  <a:srgbClr val="666666"/>
                </a:solidFill>
                <a:latin typeface="Segoe UI"/>
              </a:rPr>
              <a:t>Six phases, what each unlocks, and what done means for each</a:t>
            </a:r>
          </a:p>
        </p:txBody>
      </p:sp>
      <p:sp>
        <p:nvSpPr>
          <p:cNvPr id="12" name="TextBox 11"/>
          <p:cNvSpPr txBox="1"/>
          <p:nvPr/>
        </p:nvSpPr>
        <p:spPr>
          <a:xfrm>
            <a:off x="640080" y="3749039"/>
            <a:ext cx="3928152" cy="457200"/>
          </a:xfrm>
          <a:prstGeom prst="rect">
            <a:avLst/>
          </a:prstGeom>
          <a:noFill/>
        </p:spPr>
        <p:txBody>
          <a:bodyPr wrap="square" anchor="t" lIns="0" rIns="0" tIns="0" bIns="0">
            <a:spAutoFit/>
          </a:bodyPr>
          <a:lstStyle/>
          <a:p>
            <a:pPr algn="l"/>
            <a:r>
              <a:rPr sz="1400" b="1" i="0">
                <a:solidFill>
                  <a:srgbClr val="333333"/>
                </a:solidFill>
                <a:latin typeface="Segoe UI"/>
              </a:rPr>
              <a:t>evaluation_gaps</a:t>
            </a:r>
          </a:p>
        </p:txBody>
      </p:sp>
      <p:sp>
        <p:nvSpPr>
          <p:cNvPr id="13" name="TextBox 12"/>
          <p:cNvSpPr txBox="1"/>
          <p:nvPr/>
        </p:nvSpPr>
        <p:spPr>
          <a:xfrm>
            <a:off x="4786463" y="3749039"/>
            <a:ext cx="6765151" cy="457200"/>
          </a:xfrm>
          <a:prstGeom prst="rect">
            <a:avLst/>
          </a:prstGeom>
          <a:noFill/>
        </p:spPr>
        <p:txBody>
          <a:bodyPr wrap="square" anchor="t" lIns="0" rIns="0" tIns="0" bIns="0">
            <a:spAutoFit/>
          </a:bodyPr>
          <a:lstStyle/>
          <a:p>
            <a:pPr algn="l"/>
            <a:r>
              <a:rPr sz="1400" b="0" i="0">
                <a:solidFill>
                  <a:srgbClr val="666666"/>
                </a:solidFill>
                <a:latin typeface="Segoe UI"/>
              </a:rPr>
              <a:t>All fourteen opportunities to broaden testing, with sources</a:t>
            </a:r>
          </a:p>
        </p:txBody>
      </p:sp>
      <p:sp>
        <p:nvSpPr>
          <p:cNvPr id="14" name="TextBox 13"/>
          <p:cNvSpPr txBox="1"/>
          <p:nvPr/>
        </p:nvSpPr>
        <p:spPr>
          <a:xfrm>
            <a:off x="640080" y="4261104"/>
            <a:ext cx="3928152" cy="457200"/>
          </a:xfrm>
          <a:prstGeom prst="rect">
            <a:avLst/>
          </a:prstGeom>
          <a:noFill/>
        </p:spPr>
        <p:txBody>
          <a:bodyPr wrap="square" anchor="t" lIns="0" rIns="0" tIns="0" bIns="0">
            <a:spAutoFit/>
          </a:bodyPr>
          <a:lstStyle/>
          <a:p>
            <a:pPr algn="l"/>
            <a:r>
              <a:rPr sz="1400" b="1" i="0">
                <a:solidFill>
                  <a:srgbClr val="333333"/>
                </a:solidFill>
                <a:latin typeface="Segoe UI"/>
              </a:rPr>
              <a:t>component_functionality</a:t>
            </a:r>
          </a:p>
        </p:txBody>
      </p:sp>
      <p:sp>
        <p:nvSpPr>
          <p:cNvPr id="15" name="TextBox 14"/>
          <p:cNvSpPr txBox="1"/>
          <p:nvPr/>
        </p:nvSpPr>
        <p:spPr>
          <a:xfrm>
            <a:off x="4786463" y="4261104"/>
            <a:ext cx="6765151" cy="457200"/>
          </a:xfrm>
          <a:prstGeom prst="rect">
            <a:avLst/>
          </a:prstGeom>
          <a:noFill/>
        </p:spPr>
        <p:txBody>
          <a:bodyPr wrap="square" anchor="t" lIns="0" rIns="0" tIns="0" bIns="0">
            <a:spAutoFit/>
          </a:bodyPr>
          <a:lstStyle/>
          <a:p>
            <a:pPr algn="l"/>
            <a:r>
              <a:rPr sz="1400" b="0" i="0">
                <a:solidFill>
                  <a:srgbClr val="666666"/>
                </a:solidFill>
                <a:latin typeface="Segoe UI"/>
              </a:rPr>
              <a:t>What each component takes in and produces, and its commands</a:t>
            </a:r>
          </a:p>
        </p:txBody>
      </p:sp>
      <p:sp>
        <p:nvSpPr>
          <p:cNvPr id="16" name="TextBox 15"/>
          <p:cNvSpPr txBox="1"/>
          <p:nvPr/>
        </p:nvSpPr>
        <p:spPr>
          <a:xfrm>
            <a:off x="640080" y="4773168"/>
            <a:ext cx="3928152" cy="457200"/>
          </a:xfrm>
          <a:prstGeom prst="rect">
            <a:avLst/>
          </a:prstGeom>
          <a:noFill/>
        </p:spPr>
        <p:txBody>
          <a:bodyPr wrap="square" anchor="t" lIns="0" rIns="0" tIns="0" bIns="0">
            <a:spAutoFit/>
          </a:bodyPr>
          <a:lstStyle/>
          <a:p>
            <a:pPr algn="l"/>
            <a:r>
              <a:rPr sz="1400" b="1" i="0">
                <a:solidFill>
                  <a:srgbClr val="333333"/>
                </a:solidFill>
                <a:latin typeface="Segoe UI"/>
              </a:rPr>
              <a:t>data_telemetry_schema</a:t>
            </a:r>
          </a:p>
        </p:txBody>
      </p:sp>
      <p:sp>
        <p:nvSpPr>
          <p:cNvPr id="17" name="TextBox 16"/>
          <p:cNvSpPr txBox="1"/>
          <p:nvPr/>
        </p:nvSpPr>
        <p:spPr>
          <a:xfrm>
            <a:off x="4786463" y="4773168"/>
            <a:ext cx="6765151" cy="457200"/>
          </a:xfrm>
          <a:prstGeom prst="rect">
            <a:avLst/>
          </a:prstGeom>
          <a:noFill/>
        </p:spPr>
        <p:txBody>
          <a:bodyPr wrap="square" anchor="t" lIns="0" rIns="0" tIns="0" bIns="0">
            <a:spAutoFit/>
          </a:bodyPr>
          <a:lstStyle/>
          <a:p>
            <a:pPr algn="l"/>
            <a:r>
              <a:rPr sz="1400" b="0" i="0">
                <a:solidFill>
                  <a:srgbClr val="666666"/>
                </a:solidFill>
                <a:latin typeface="Segoe UI"/>
              </a:rPr>
              <a:t>What gets recorded for every run, and how results are stored</a:t>
            </a:r>
          </a:p>
        </p:txBody>
      </p:sp>
      <p:sp>
        <p:nvSpPr>
          <p:cNvPr id="18" name="TextBox 17"/>
          <p:cNvSpPr txBox="1"/>
          <p:nvPr/>
        </p:nvSpPr>
        <p:spPr>
          <a:xfrm>
            <a:off x="640080" y="5285232"/>
            <a:ext cx="3928152" cy="457200"/>
          </a:xfrm>
          <a:prstGeom prst="rect">
            <a:avLst/>
          </a:prstGeom>
          <a:noFill/>
        </p:spPr>
        <p:txBody>
          <a:bodyPr wrap="square" anchor="t" lIns="0" rIns="0" tIns="0" bIns="0">
            <a:spAutoFit/>
          </a:bodyPr>
          <a:lstStyle/>
          <a:p>
            <a:pPr algn="l"/>
            <a:r>
              <a:rPr sz="1400" b="1" i="0">
                <a:solidFill>
                  <a:srgbClr val="333333"/>
                </a:solidFill>
                <a:latin typeface="Segoe UI"/>
              </a:rPr>
              <a:t>caruca_white_paper</a:t>
            </a:r>
          </a:p>
        </p:txBody>
      </p:sp>
      <p:sp>
        <p:nvSpPr>
          <p:cNvPr id="19" name="TextBox 18"/>
          <p:cNvSpPr txBox="1"/>
          <p:nvPr/>
        </p:nvSpPr>
        <p:spPr>
          <a:xfrm>
            <a:off x="4786463" y="5285232"/>
            <a:ext cx="6765151" cy="457200"/>
          </a:xfrm>
          <a:prstGeom prst="rect">
            <a:avLst/>
          </a:prstGeom>
          <a:noFill/>
        </p:spPr>
        <p:txBody>
          <a:bodyPr wrap="square" anchor="t" lIns="0" rIns="0" tIns="0" bIns="0">
            <a:spAutoFit/>
          </a:bodyPr>
          <a:lstStyle/>
          <a:p>
            <a:pPr algn="l"/>
            <a:r>
              <a:rPr sz="1400" b="0" i="0">
                <a:solidFill>
                  <a:srgbClr val="666666"/>
                </a:solidFill>
                <a:latin typeface="Segoe UI"/>
              </a:rPr>
              <a:t>The original paper, for reference</a:t>
            </a:r>
          </a:p>
        </p:txBody>
      </p:sp>
      <p:sp>
        <p:nvSpPr>
          <p:cNvPr id="20" name="Rectangle 19"/>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2" name="TextBox 21"/>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